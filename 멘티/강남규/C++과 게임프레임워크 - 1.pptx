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66" d="100"/>
          <a:sy n="66" d="100"/>
        </p:scale>
        <p:origin x="32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C45666-6FCB-4EF8-ABA3-20991FCEDD9E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5FBC7E19-83EC-4EE1-89AC-0D344377BB3D}">
      <dgm:prSet phldrT="[텍스트]"/>
      <dgm:spPr>
        <a:solidFill>
          <a:schemeClr val="bg2">
            <a:lumMod val="50000"/>
          </a:schemeClr>
        </a:solidFill>
      </dgm:spPr>
      <dgm:t>
        <a:bodyPr/>
        <a:lstStyle/>
        <a:p>
          <a:pPr latinLnBrk="1"/>
          <a:r>
            <a:rPr lang="ko-KR" altLang="en-US" dirty="0"/>
            <a:t>소스코드</a:t>
          </a:r>
        </a:p>
      </dgm:t>
    </dgm:pt>
    <dgm:pt modelId="{3752856E-2D66-4FEF-99E0-E56E9D666E1F}" type="parTrans" cxnId="{61CA1DFC-C109-481C-B9B9-A6D067E25183}">
      <dgm:prSet/>
      <dgm:spPr/>
      <dgm:t>
        <a:bodyPr/>
        <a:lstStyle/>
        <a:p>
          <a:pPr latinLnBrk="1"/>
          <a:endParaRPr lang="ko-KR" altLang="en-US"/>
        </a:p>
      </dgm:t>
    </dgm:pt>
    <dgm:pt modelId="{ADAFBFC3-DAC3-4BDB-B681-ADCE888B0153}" type="sibTrans" cxnId="{61CA1DFC-C109-481C-B9B9-A6D067E25183}">
      <dgm:prSet/>
      <dgm:spPr/>
      <dgm:t>
        <a:bodyPr/>
        <a:lstStyle/>
        <a:p>
          <a:pPr latinLnBrk="1"/>
          <a:endParaRPr lang="ko-KR" altLang="en-US"/>
        </a:p>
      </dgm:t>
    </dgm:pt>
    <dgm:pt modelId="{688A179C-E6C3-42B7-A093-CED6CC56B91A}">
      <dgm:prSet phldrT="[텍스트]"/>
      <dgm:spPr/>
      <dgm:t>
        <a:bodyPr/>
        <a:lstStyle/>
        <a:p>
          <a:pPr latinLnBrk="1"/>
          <a:r>
            <a:rPr lang="ko-KR" altLang="en-US" dirty="0"/>
            <a:t>컴파일</a:t>
          </a:r>
        </a:p>
      </dgm:t>
    </dgm:pt>
    <dgm:pt modelId="{C731E225-F81A-4CE7-A78A-B03BDB9FD6E2}" type="parTrans" cxnId="{B75B91AA-A1EF-45F6-9085-5B21D087B160}">
      <dgm:prSet/>
      <dgm:spPr/>
      <dgm:t>
        <a:bodyPr/>
        <a:lstStyle/>
        <a:p>
          <a:pPr latinLnBrk="1"/>
          <a:endParaRPr lang="ko-KR" altLang="en-US"/>
        </a:p>
      </dgm:t>
    </dgm:pt>
    <dgm:pt modelId="{021F3F58-7324-4438-BE28-8242B089C11F}" type="sibTrans" cxnId="{B75B91AA-A1EF-45F6-9085-5B21D087B160}">
      <dgm:prSet/>
      <dgm:spPr/>
      <dgm:t>
        <a:bodyPr/>
        <a:lstStyle/>
        <a:p>
          <a:pPr latinLnBrk="1"/>
          <a:endParaRPr lang="ko-KR" altLang="en-US"/>
        </a:p>
      </dgm:t>
    </dgm:pt>
    <dgm:pt modelId="{CB5B34A0-3623-4769-8B4B-20DEAFDABA76}">
      <dgm:prSet phldrT="[텍스트]"/>
      <dgm:spPr>
        <a:solidFill>
          <a:schemeClr val="bg2">
            <a:lumMod val="50000"/>
          </a:schemeClr>
        </a:solidFill>
      </dgm:spPr>
      <dgm:t>
        <a:bodyPr/>
        <a:lstStyle/>
        <a:p>
          <a:pPr latinLnBrk="1"/>
          <a:r>
            <a:rPr lang="ko-KR" altLang="en-US" dirty="0"/>
            <a:t>오브젝트 파일</a:t>
          </a:r>
        </a:p>
      </dgm:t>
    </dgm:pt>
    <dgm:pt modelId="{295EF3E4-4E2B-4FA6-91FE-AFC5A46C44C8}" type="parTrans" cxnId="{727B2A99-8514-4844-9DB3-D1E06C8E26EF}">
      <dgm:prSet/>
      <dgm:spPr/>
      <dgm:t>
        <a:bodyPr/>
        <a:lstStyle/>
        <a:p>
          <a:pPr latinLnBrk="1"/>
          <a:endParaRPr lang="ko-KR" altLang="en-US"/>
        </a:p>
      </dgm:t>
    </dgm:pt>
    <dgm:pt modelId="{9BABBD4D-33FA-4ED5-A2DA-2F8975122BF7}" type="sibTrans" cxnId="{727B2A99-8514-4844-9DB3-D1E06C8E26EF}">
      <dgm:prSet/>
      <dgm:spPr/>
      <dgm:t>
        <a:bodyPr/>
        <a:lstStyle/>
        <a:p>
          <a:pPr latinLnBrk="1"/>
          <a:endParaRPr lang="ko-KR" altLang="en-US"/>
        </a:p>
      </dgm:t>
    </dgm:pt>
    <dgm:pt modelId="{B75EC5FA-36EA-4CCA-A297-88B40C84DDE2}">
      <dgm:prSet phldrT="[텍스트]" phldr="0"/>
      <dgm:spPr/>
      <dgm:t>
        <a:bodyPr/>
        <a:lstStyle/>
        <a:p>
          <a:pPr latinLnBrk="1"/>
          <a:r>
            <a:rPr lang="ko-KR" altLang="en-US" dirty="0" err="1"/>
            <a:t>링킹</a:t>
          </a:r>
          <a:endParaRPr lang="ko-KR" altLang="en-US" dirty="0"/>
        </a:p>
      </dgm:t>
    </dgm:pt>
    <dgm:pt modelId="{71E405FE-04C3-483B-8F9A-848FF8BF9D80}" type="parTrans" cxnId="{3988AAAE-B76D-4CDD-8B60-551D922EE87A}">
      <dgm:prSet/>
      <dgm:spPr/>
      <dgm:t>
        <a:bodyPr/>
        <a:lstStyle/>
        <a:p>
          <a:pPr latinLnBrk="1"/>
          <a:endParaRPr lang="ko-KR" altLang="en-US"/>
        </a:p>
      </dgm:t>
    </dgm:pt>
    <dgm:pt modelId="{668C0ACB-D330-41F9-8738-77B99E5EDBC7}" type="sibTrans" cxnId="{3988AAAE-B76D-4CDD-8B60-551D922EE87A}">
      <dgm:prSet/>
      <dgm:spPr/>
      <dgm:t>
        <a:bodyPr/>
        <a:lstStyle/>
        <a:p>
          <a:pPr latinLnBrk="1"/>
          <a:endParaRPr lang="ko-KR" altLang="en-US"/>
        </a:p>
      </dgm:t>
    </dgm:pt>
    <dgm:pt modelId="{D5261145-2708-479F-A0A7-466AEBC0B6DE}">
      <dgm:prSet phldrT="[텍스트]" phldr="0"/>
      <dgm:spPr>
        <a:solidFill>
          <a:schemeClr val="bg2">
            <a:lumMod val="50000"/>
          </a:schemeClr>
        </a:solidFill>
      </dgm:spPr>
      <dgm:t>
        <a:bodyPr/>
        <a:lstStyle/>
        <a:p>
          <a:pPr latinLnBrk="1"/>
          <a:r>
            <a:rPr lang="ko-KR" altLang="en-US" dirty="0"/>
            <a:t>실행 파일</a:t>
          </a:r>
        </a:p>
      </dgm:t>
    </dgm:pt>
    <dgm:pt modelId="{6D942D93-F0D6-40EF-89A0-E67905A98CB7}" type="parTrans" cxnId="{E3450CD0-7CCA-4F96-A2CB-DE8BF528439B}">
      <dgm:prSet/>
      <dgm:spPr/>
      <dgm:t>
        <a:bodyPr/>
        <a:lstStyle/>
        <a:p>
          <a:pPr latinLnBrk="1"/>
          <a:endParaRPr lang="ko-KR" altLang="en-US"/>
        </a:p>
      </dgm:t>
    </dgm:pt>
    <dgm:pt modelId="{282695E6-D365-4087-88AD-41FF2D39A8FB}" type="sibTrans" cxnId="{E3450CD0-7CCA-4F96-A2CB-DE8BF528439B}">
      <dgm:prSet/>
      <dgm:spPr/>
      <dgm:t>
        <a:bodyPr/>
        <a:lstStyle/>
        <a:p>
          <a:pPr latinLnBrk="1"/>
          <a:endParaRPr lang="ko-KR" altLang="en-US"/>
        </a:p>
      </dgm:t>
    </dgm:pt>
    <dgm:pt modelId="{B17F30A9-7DDF-4D15-899F-5A5AA152AA95}" type="pres">
      <dgm:prSet presAssocID="{20C45666-6FCB-4EF8-ABA3-20991FCEDD9E}" presName="CompostProcess" presStyleCnt="0">
        <dgm:presLayoutVars>
          <dgm:dir/>
          <dgm:resizeHandles val="exact"/>
        </dgm:presLayoutVars>
      </dgm:prSet>
      <dgm:spPr/>
    </dgm:pt>
    <dgm:pt modelId="{3444DF1A-C3AD-4849-9B1E-CF4EBA85673B}" type="pres">
      <dgm:prSet presAssocID="{20C45666-6FCB-4EF8-ABA3-20991FCEDD9E}" presName="arrow" presStyleLbl="bgShp" presStyleIdx="0" presStyleCnt="1" custLinFactNeighborX="-13061" custLinFactNeighborY="-29161"/>
      <dgm:spPr/>
    </dgm:pt>
    <dgm:pt modelId="{1F218F44-5A20-4FBC-8FE6-8BC4BB849C93}" type="pres">
      <dgm:prSet presAssocID="{20C45666-6FCB-4EF8-ABA3-20991FCEDD9E}" presName="linearProcess" presStyleCnt="0"/>
      <dgm:spPr/>
    </dgm:pt>
    <dgm:pt modelId="{F1ACF643-7589-43C3-9E16-403FAF2314B7}" type="pres">
      <dgm:prSet presAssocID="{5FBC7E19-83EC-4EE1-89AC-0D344377BB3D}" presName="textNode" presStyleLbl="node1" presStyleIdx="0" presStyleCnt="5">
        <dgm:presLayoutVars>
          <dgm:bulletEnabled val="1"/>
        </dgm:presLayoutVars>
      </dgm:prSet>
      <dgm:spPr/>
    </dgm:pt>
    <dgm:pt modelId="{5A6810D9-B64E-4452-ABCC-6D8FEF9255E2}" type="pres">
      <dgm:prSet presAssocID="{ADAFBFC3-DAC3-4BDB-B681-ADCE888B0153}" presName="sibTrans" presStyleCnt="0"/>
      <dgm:spPr/>
    </dgm:pt>
    <dgm:pt modelId="{1450AC8D-91BA-4DA3-979E-E11C65A78521}" type="pres">
      <dgm:prSet presAssocID="{688A179C-E6C3-42B7-A093-CED6CC56B91A}" presName="textNode" presStyleLbl="node1" presStyleIdx="1" presStyleCnt="5">
        <dgm:presLayoutVars>
          <dgm:bulletEnabled val="1"/>
        </dgm:presLayoutVars>
      </dgm:prSet>
      <dgm:spPr/>
    </dgm:pt>
    <dgm:pt modelId="{1195368C-8192-4EA7-8001-292D85D2F525}" type="pres">
      <dgm:prSet presAssocID="{021F3F58-7324-4438-BE28-8242B089C11F}" presName="sibTrans" presStyleCnt="0"/>
      <dgm:spPr/>
    </dgm:pt>
    <dgm:pt modelId="{550F59E6-20CC-498C-A6D7-1322A506028E}" type="pres">
      <dgm:prSet presAssocID="{CB5B34A0-3623-4769-8B4B-20DEAFDABA76}" presName="textNode" presStyleLbl="node1" presStyleIdx="2" presStyleCnt="5">
        <dgm:presLayoutVars>
          <dgm:bulletEnabled val="1"/>
        </dgm:presLayoutVars>
      </dgm:prSet>
      <dgm:spPr/>
    </dgm:pt>
    <dgm:pt modelId="{50C53524-F5EF-4CD9-879B-40CCE1D3D6FE}" type="pres">
      <dgm:prSet presAssocID="{9BABBD4D-33FA-4ED5-A2DA-2F8975122BF7}" presName="sibTrans" presStyleCnt="0"/>
      <dgm:spPr/>
    </dgm:pt>
    <dgm:pt modelId="{CDEA4AF1-A058-4283-A35D-BE29B03E655D}" type="pres">
      <dgm:prSet presAssocID="{B75EC5FA-36EA-4CCA-A297-88B40C84DDE2}" presName="textNode" presStyleLbl="node1" presStyleIdx="3" presStyleCnt="5">
        <dgm:presLayoutVars>
          <dgm:bulletEnabled val="1"/>
        </dgm:presLayoutVars>
      </dgm:prSet>
      <dgm:spPr/>
    </dgm:pt>
    <dgm:pt modelId="{BE09867E-42ED-42DE-B5BD-4520AD3ECBFD}" type="pres">
      <dgm:prSet presAssocID="{668C0ACB-D330-41F9-8738-77B99E5EDBC7}" presName="sibTrans" presStyleCnt="0"/>
      <dgm:spPr/>
    </dgm:pt>
    <dgm:pt modelId="{E3FC74C3-D277-4530-92F5-E4F349CD6E6C}" type="pres">
      <dgm:prSet presAssocID="{D5261145-2708-479F-A0A7-466AEBC0B6DE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577BC41A-A9C3-40DF-A1D0-FE128E576C44}" type="presOf" srcId="{D5261145-2708-479F-A0A7-466AEBC0B6DE}" destId="{E3FC74C3-D277-4530-92F5-E4F349CD6E6C}" srcOrd="0" destOrd="0" presId="urn:microsoft.com/office/officeart/2005/8/layout/hProcess9"/>
    <dgm:cxn modelId="{7A39DB44-3F99-4401-83A4-28465945E8CE}" type="presOf" srcId="{B75EC5FA-36EA-4CCA-A297-88B40C84DDE2}" destId="{CDEA4AF1-A058-4283-A35D-BE29B03E655D}" srcOrd="0" destOrd="0" presId="urn:microsoft.com/office/officeart/2005/8/layout/hProcess9"/>
    <dgm:cxn modelId="{727B2A99-8514-4844-9DB3-D1E06C8E26EF}" srcId="{20C45666-6FCB-4EF8-ABA3-20991FCEDD9E}" destId="{CB5B34A0-3623-4769-8B4B-20DEAFDABA76}" srcOrd="2" destOrd="0" parTransId="{295EF3E4-4E2B-4FA6-91FE-AFC5A46C44C8}" sibTransId="{9BABBD4D-33FA-4ED5-A2DA-2F8975122BF7}"/>
    <dgm:cxn modelId="{D45B049A-AD83-4919-AF18-A6A8463758C1}" type="presOf" srcId="{5FBC7E19-83EC-4EE1-89AC-0D344377BB3D}" destId="{F1ACF643-7589-43C3-9E16-403FAF2314B7}" srcOrd="0" destOrd="0" presId="urn:microsoft.com/office/officeart/2005/8/layout/hProcess9"/>
    <dgm:cxn modelId="{B75B91AA-A1EF-45F6-9085-5B21D087B160}" srcId="{20C45666-6FCB-4EF8-ABA3-20991FCEDD9E}" destId="{688A179C-E6C3-42B7-A093-CED6CC56B91A}" srcOrd="1" destOrd="0" parTransId="{C731E225-F81A-4CE7-A78A-B03BDB9FD6E2}" sibTransId="{021F3F58-7324-4438-BE28-8242B089C11F}"/>
    <dgm:cxn modelId="{3988AAAE-B76D-4CDD-8B60-551D922EE87A}" srcId="{20C45666-6FCB-4EF8-ABA3-20991FCEDD9E}" destId="{B75EC5FA-36EA-4CCA-A297-88B40C84DDE2}" srcOrd="3" destOrd="0" parTransId="{71E405FE-04C3-483B-8F9A-848FF8BF9D80}" sibTransId="{668C0ACB-D330-41F9-8738-77B99E5EDBC7}"/>
    <dgm:cxn modelId="{E3450CD0-7CCA-4F96-A2CB-DE8BF528439B}" srcId="{20C45666-6FCB-4EF8-ABA3-20991FCEDD9E}" destId="{D5261145-2708-479F-A0A7-466AEBC0B6DE}" srcOrd="4" destOrd="0" parTransId="{6D942D93-F0D6-40EF-89A0-E67905A98CB7}" sibTransId="{282695E6-D365-4087-88AD-41FF2D39A8FB}"/>
    <dgm:cxn modelId="{CEF453EC-8F77-41ED-BBB3-88554CFEF0A8}" type="presOf" srcId="{20C45666-6FCB-4EF8-ABA3-20991FCEDD9E}" destId="{B17F30A9-7DDF-4D15-899F-5A5AA152AA95}" srcOrd="0" destOrd="0" presId="urn:microsoft.com/office/officeart/2005/8/layout/hProcess9"/>
    <dgm:cxn modelId="{6163F9F7-3CFC-4A8B-AA97-88A61FC2DBF4}" type="presOf" srcId="{688A179C-E6C3-42B7-A093-CED6CC56B91A}" destId="{1450AC8D-91BA-4DA3-979E-E11C65A78521}" srcOrd="0" destOrd="0" presId="urn:microsoft.com/office/officeart/2005/8/layout/hProcess9"/>
    <dgm:cxn modelId="{61CA1DFC-C109-481C-B9B9-A6D067E25183}" srcId="{20C45666-6FCB-4EF8-ABA3-20991FCEDD9E}" destId="{5FBC7E19-83EC-4EE1-89AC-0D344377BB3D}" srcOrd="0" destOrd="0" parTransId="{3752856E-2D66-4FEF-99E0-E56E9D666E1F}" sibTransId="{ADAFBFC3-DAC3-4BDB-B681-ADCE888B0153}"/>
    <dgm:cxn modelId="{F84E9FFD-3836-4215-8F25-77B25B21F913}" type="presOf" srcId="{CB5B34A0-3623-4769-8B4B-20DEAFDABA76}" destId="{550F59E6-20CC-498C-A6D7-1322A506028E}" srcOrd="0" destOrd="0" presId="urn:microsoft.com/office/officeart/2005/8/layout/hProcess9"/>
    <dgm:cxn modelId="{56A97552-14E3-488C-87EA-F0EFE5CFC054}" type="presParOf" srcId="{B17F30A9-7DDF-4D15-899F-5A5AA152AA95}" destId="{3444DF1A-C3AD-4849-9B1E-CF4EBA85673B}" srcOrd="0" destOrd="0" presId="urn:microsoft.com/office/officeart/2005/8/layout/hProcess9"/>
    <dgm:cxn modelId="{D032BD36-6761-47D1-AB59-E9AA494B0109}" type="presParOf" srcId="{B17F30A9-7DDF-4D15-899F-5A5AA152AA95}" destId="{1F218F44-5A20-4FBC-8FE6-8BC4BB849C93}" srcOrd="1" destOrd="0" presId="urn:microsoft.com/office/officeart/2005/8/layout/hProcess9"/>
    <dgm:cxn modelId="{7FBA6928-FC38-4D58-8010-39D5B4FD81B0}" type="presParOf" srcId="{1F218F44-5A20-4FBC-8FE6-8BC4BB849C93}" destId="{F1ACF643-7589-43C3-9E16-403FAF2314B7}" srcOrd="0" destOrd="0" presId="urn:microsoft.com/office/officeart/2005/8/layout/hProcess9"/>
    <dgm:cxn modelId="{8A1F14B7-1249-41CE-91AD-9BB120DAA1BC}" type="presParOf" srcId="{1F218F44-5A20-4FBC-8FE6-8BC4BB849C93}" destId="{5A6810D9-B64E-4452-ABCC-6D8FEF9255E2}" srcOrd="1" destOrd="0" presId="urn:microsoft.com/office/officeart/2005/8/layout/hProcess9"/>
    <dgm:cxn modelId="{1F7ABF57-B4BB-4CD7-8825-5E79D00F0586}" type="presParOf" srcId="{1F218F44-5A20-4FBC-8FE6-8BC4BB849C93}" destId="{1450AC8D-91BA-4DA3-979E-E11C65A78521}" srcOrd="2" destOrd="0" presId="urn:microsoft.com/office/officeart/2005/8/layout/hProcess9"/>
    <dgm:cxn modelId="{7499FE84-141A-4CA3-93CC-75E5450557E9}" type="presParOf" srcId="{1F218F44-5A20-4FBC-8FE6-8BC4BB849C93}" destId="{1195368C-8192-4EA7-8001-292D85D2F525}" srcOrd="3" destOrd="0" presId="urn:microsoft.com/office/officeart/2005/8/layout/hProcess9"/>
    <dgm:cxn modelId="{564D5D6B-AD96-4F12-96CD-BDD79B2E1EE8}" type="presParOf" srcId="{1F218F44-5A20-4FBC-8FE6-8BC4BB849C93}" destId="{550F59E6-20CC-498C-A6D7-1322A506028E}" srcOrd="4" destOrd="0" presId="urn:microsoft.com/office/officeart/2005/8/layout/hProcess9"/>
    <dgm:cxn modelId="{1F673E86-74EB-4891-A76A-48047F50BF4A}" type="presParOf" srcId="{1F218F44-5A20-4FBC-8FE6-8BC4BB849C93}" destId="{50C53524-F5EF-4CD9-879B-40CCE1D3D6FE}" srcOrd="5" destOrd="0" presId="urn:microsoft.com/office/officeart/2005/8/layout/hProcess9"/>
    <dgm:cxn modelId="{6221815B-4508-4FC0-A5C6-B8A4CFDC5722}" type="presParOf" srcId="{1F218F44-5A20-4FBC-8FE6-8BC4BB849C93}" destId="{CDEA4AF1-A058-4283-A35D-BE29B03E655D}" srcOrd="6" destOrd="0" presId="urn:microsoft.com/office/officeart/2005/8/layout/hProcess9"/>
    <dgm:cxn modelId="{4D903826-B04F-4B52-853B-C8ACA2D5160D}" type="presParOf" srcId="{1F218F44-5A20-4FBC-8FE6-8BC4BB849C93}" destId="{BE09867E-42ED-42DE-B5BD-4520AD3ECBFD}" srcOrd="7" destOrd="0" presId="urn:microsoft.com/office/officeart/2005/8/layout/hProcess9"/>
    <dgm:cxn modelId="{4E8B9265-34DE-4626-A26A-BFFC7B0FDC14}" type="presParOf" srcId="{1F218F44-5A20-4FBC-8FE6-8BC4BB849C93}" destId="{E3FC74C3-D277-4530-92F5-E4F349CD6E6C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44DF1A-C3AD-4849-9B1E-CF4EBA85673B}">
      <dsp:nvSpPr>
        <dsp:cNvPr id="0" name=""/>
        <dsp:cNvSpPr/>
      </dsp:nvSpPr>
      <dsp:spPr>
        <a:xfrm>
          <a:off x="0" y="0"/>
          <a:ext cx="8103837" cy="163109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ACF643-7589-43C3-9E16-403FAF2314B7}">
      <dsp:nvSpPr>
        <dsp:cNvPr id="0" name=""/>
        <dsp:cNvSpPr/>
      </dsp:nvSpPr>
      <dsp:spPr>
        <a:xfrm>
          <a:off x="2553" y="489327"/>
          <a:ext cx="1736127" cy="652436"/>
        </a:xfrm>
        <a:prstGeom prst="roundRect">
          <a:avLst/>
        </a:prstGeom>
        <a:solidFill>
          <a:schemeClr val="bg2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소스코드</a:t>
          </a:r>
        </a:p>
      </dsp:txBody>
      <dsp:txXfrm>
        <a:off x="34402" y="521176"/>
        <a:ext cx="1672429" cy="588738"/>
      </dsp:txXfrm>
    </dsp:sp>
    <dsp:sp modelId="{1450AC8D-91BA-4DA3-979E-E11C65A78521}">
      <dsp:nvSpPr>
        <dsp:cNvPr id="0" name=""/>
        <dsp:cNvSpPr/>
      </dsp:nvSpPr>
      <dsp:spPr>
        <a:xfrm>
          <a:off x="1950726" y="489327"/>
          <a:ext cx="1736127" cy="6524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컴파일</a:t>
          </a:r>
        </a:p>
      </dsp:txBody>
      <dsp:txXfrm>
        <a:off x="1982575" y="521176"/>
        <a:ext cx="1672429" cy="588738"/>
      </dsp:txXfrm>
    </dsp:sp>
    <dsp:sp modelId="{550F59E6-20CC-498C-A6D7-1322A506028E}">
      <dsp:nvSpPr>
        <dsp:cNvPr id="0" name=""/>
        <dsp:cNvSpPr/>
      </dsp:nvSpPr>
      <dsp:spPr>
        <a:xfrm>
          <a:off x="3898899" y="489327"/>
          <a:ext cx="1736127" cy="652436"/>
        </a:xfrm>
        <a:prstGeom prst="roundRect">
          <a:avLst/>
        </a:prstGeom>
        <a:solidFill>
          <a:schemeClr val="bg2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오브젝트 파일</a:t>
          </a:r>
        </a:p>
      </dsp:txBody>
      <dsp:txXfrm>
        <a:off x="3930748" y="521176"/>
        <a:ext cx="1672429" cy="588738"/>
      </dsp:txXfrm>
    </dsp:sp>
    <dsp:sp modelId="{CDEA4AF1-A058-4283-A35D-BE29B03E655D}">
      <dsp:nvSpPr>
        <dsp:cNvPr id="0" name=""/>
        <dsp:cNvSpPr/>
      </dsp:nvSpPr>
      <dsp:spPr>
        <a:xfrm>
          <a:off x="5847072" y="489327"/>
          <a:ext cx="1736127" cy="6524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 err="1"/>
            <a:t>링킹</a:t>
          </a:r>
          <a:endParaRPr lang="ko-KR" altLang="en-US" sz="1800" kern="1200" dirty="0"/>
        </a:p>
      </dsp:txBody>
      <dsp:txXfrm>
        <a:off x="5878921" y="521176"/>
        <a:ext cx="1672429" cy="588738"/>
      </dsp:txXfrm>
    </dsp:sp>
    <dsp:sp modelId="{E3FC74C3-D277-4530-92F5-E4F349CD6E6C}">
      <dsp:nvSpPr>
        <dsp:cNvPr id="0" name=""/>
        <dsp:cNvSpPr/>
      </dsp:nvSpPr>
      <dsp:spPr>
        <a:xfrm>
          <a:off x="7795245" y="489327"/>
          <a:ext cx="1736127" cy="652436"/>
        </a:xfrm>
        <a:prstGeom prst="roundRect">
          <a:avLst/>
        </a:prstGeom>
        <a:solidFill>
          <a:schemeClr val="bg2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실행 파일</a:t>
          </a:r>
        </a:p>
      </dsp:txBody>
      <dsp:txXfrm>
        <a:off x="7827094" y="521176"/>
        <a:ext cx="1672429" cy="5887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6D220-3F98-F24E-2273-34FF4710B1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CB1FFA2-AC5F-0DCE-671F-69BC9B440F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9D802B-3EB6-9ACC-C245-5F8838F2C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0FE4-12D9-4E8C-A423-86F03C27752B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03614A-AAED-D495-C1D2-AF122E409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D81EF6-D1C0-F9DF-D690-2B7C98675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BCBC1-7A84-44C1-94E4-78AE9817C7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754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D68F4-F179-78F7-3C69-1C706AF54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DF5235-E33B-8897-811F-7845292B2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06163C-28AC-0446-FB5A-40DFA2748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0FE4-12D9-4E8C-A423-86F03C27752B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CF339F-5063-520D-A635-56965B44D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65B802-DEC2-AAE2-0749-0E6A2EDC8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BCBC1-7A84-44C1-94E4-78AE9817C7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9544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E603D-B970-6D2D-7379-351218143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A9B62B-9C20-3F37-B822-C405F1732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D840EC-8C4B-3C79-C157-9030F6991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0FE4-12D9-4E8C-A423-86F03C27752B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1EAE8E-0915-8F53-2E17-BF537AEEE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BC71A3-1B33-EDC1-59A9-5DAD1162B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BCBC1-7A84-44C1-94E4-78AE9817C7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768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25C291-AAC8-A854-8C00-D409E8833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51DAD5-BE5E-130B-08A2-D4829C5A0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376B54-43CB-4E5C-D5B4-C2707007E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3EEA92-46CB-1A24-A5C7-9CA4B762B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0FE4-12D9-4E8C-A423-86F03C27752B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9361F9-F3EC-B2CC-2D41-BE8BCFB12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D7BFC7-8AD3-4FFF-823D-8E6D451A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BCBC1-7A84-44C1-94E4-78AE9817C7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1168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B66F39-9C6B-C74F-A35F-987CB9729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2205EB-123E-AD2E-467A-1A7E7C9CF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46A6FA-DB82-DA7C-5016-59D8C87F19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9F596D1-E828-029E-328C-E079723267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31F5F2F-7B73-747E-D96A-D5638A9F3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086E623-0629-3191-9D62-1452C04F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0FE4-12D9-4E8C-A423-86F03C27752B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FE7C5A0-C35F-AE6C-8876-C8EFCC0C5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E57544-42F6-C39B-9FE5-BE8C1D3EE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BCBC1-7A84-44C1-94E4-78AE9817C7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431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EA9592-E5B5-1E6A-D280-404D7261C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F0323F7-F72F-6A13-4C59-4612EE837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0FE4-12D9-4E8C-A423-86F03C27752B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592BE0-0BD2-27F7-5527-ACAA304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9F8D85-3377-6EE0-0049-59E0040FD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BCBC1-7A84-44C1-94E4-78AE9817C7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968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CA81D62-C0BE-28F6-8BEB-6CA512358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0FE4-12D9-4E8C-A423-86F03C27752B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1B294E4-730E-3126-6E9E-E7037098C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FB8789-93DB-2D88-8A53-2E8815276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BCBC1-7A84-44C1-94E4-78AE9817C7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199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D24AF3-FADC-1ACD-C530-4688F407F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C99EBB-1274-4C56-C5C2-B08F29918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BD015F-8E1D-97CB-DC22-D8117409A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F8B98A-5219-97C5-FE50-73DAEDE99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0FE4-12D9-4E8C-A423-86F03C27752B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580C7C-697C-F55F-E630-C061862B4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27276A-C439-4AB1-1F99-67D4570A1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BCBC1-7A84-44C1-94E4-78AE9817C7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1411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975902-0D6C-D024-FAA5-FE70DACC7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76BEDAE-3F11-2B86-7753-5F264F398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AE3C50-2FA0-D53F-0814-8533A8F4D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57B6D7-12D0-13ED-B236-3F8FEEFC0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0FE4-12D9-4E8C-A423-86F03C27752B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4C60D1-037A-91A7-C3E3-66B08F1C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6E9D41-72F2-1221-7B50-AAF05242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BCBC1-7A84-44C1-94E4-78AE9817C7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4106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5CE9BF-7120-CDC1-CDE8-B7F95E44E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2C467C-750A-E3AB-94E3-7D384C3F6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C353E1-584B-1ECF-325C-76CCE0C7D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0FE4-12D9-4E8C-A423-86F03C27752B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C97DB7-6A2D-7374-E093-5880F0C65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6BCA70-93A8-30C8-3127-BCFA86135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BCBC1-7A84-44C1-94E4-78AE9817C7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973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6A4CF41-7774-664C-18E9-EEF4FC366A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920AC2-3C68-4EA4-F331-52968CA5F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1D7EBD-0D8E-6B0D-C62D-3483069A1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0FE4-12D9-4E8C-A423-86F03C27752B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4AA29C-DA47-46EE-A05B-64F3BFEF5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F84BAA-DF49-40EB-64D0-B76552342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BCBC1-7A84-44C1-94E4-78AE9817C7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583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09CD273-0F0D-C8BB-702F-EE211A4A3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E3131C-3BF5-738A-E2B1-9BD43DC8A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1ADE73-32D6-B7D1-9D4E-AB4DCFF4CA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7A0FE4-12D9-4E8C-A423-86F03C27752B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0A07F3-2E34-8F85-7C47-738D6E785D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F68D11-F7F1-F58B-36CE-F8E4C67484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0BCBC1-7A84-44C1-94E4-78AE9817C7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715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B02D8E-2829-0A16-18CA-7221115208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C/C++</a:t>
            </a:r>
            <a:r>
              <a:rPr lang="ko-KR" altLang="en-US" b="1" dirty="0"/>
              <a:t> </a:t>
            </a:r>
            <a:br>
              <a:rPr lang="en-US" altLang="ko-KR" b="1" dirty="0"/>
            </a:br>
            <a:r>
              <a:rPr lang="en-US" altLang="ko-KR" b="1" dirty="0"/>
              <a:t>&amp;</a:t>
            </a:r>
            <a:br>
              <a:rPr lang="en-US" altLang="ko-KR" b="1" dirty="0"/>
            </a:br>
            <a:r>
              <a:rPr lang="en-US" altLang="ko-KR" b="1" dirty="0"/>
              <a:t>Game Framework</a:t>
            </a:r>
            <a:endParaRPr lang="ko-KR" altLang="en-US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421989F-DD6B-D33E-8C96-D58BC9FB6D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ko-KR" altLang="en-US" dirty="0" err="1"/>
              <a:t>겜공에서</a:t>
            </a:r>
            <a:r>
              <a:rPr lang="ko-KR" altLang="en-US" dirty="0"/>
              <a:t> 살아남기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AE21A6-41CF-C459-E8E6-74B578C6165B}"/>
              </a:ext>
            </a:extLst>
          </p:cNvPr>
          <p:cNvSpPr txBox="1"/>
          <p:nvPr/>
        </p:nvSpPr>
        <p:spPr>
          <a:xfrm>
            <a:off x="10830393" y="89940"/>
            <a:ext cx="219605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65000"/>
                  </a:schemeClr>
                </a:solidFill>
              </a:rPr>
              <a:t>Made by The_L00t</a:t>
            </a:r>
            <a:endParaRPr lang="ko-KR" altLang="en-US" sz="105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360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B6E00-00AA-153C-DD4E-53C9CDAEB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E9A185-B576-A964-5B9C-32343137D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1.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734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F14E23-5F4A-CFE2-1FFC-3FD8BFF12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C/C++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3F66C2-E07D-3668-D056-E88013830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2000" dirty="0"/>
              <a:t>처음 </a:t>
            </a:r>
            <a:r>
              <a:rPr lang="en-US" altLang="ko-KR" sz="2000" dirty="0"/>
              <a:t>C/C++</a:t>
            </a:r>
            <a:r>
              <a:rPr lang="ko-KR" altLang="en-US" sz="2000" dirty="0"/>
              <a:t>을 시작하면 아마 다음의 코드부터 접하게 됩니다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이런 코드 관련한 학습은 어디에서나 찾아볼 수 있으므로 가장 기초적인 부분들은 대부분 생략하도록 하겠습니다</a:t>
            </a:r>
            <a:r>
              <a:rPr lang="en-US" altLang="ko-KR" sz="2000" dirty="0"/>
              <a:t>. </a:t>
            </a:r>
            <a:r>
              <a:rPr lang="ko-KR" altLang="en-US" sz="2000" dirty="0"/>
              <a:t>그러나 중요하고 어려워 할만한 부분에서는 나름 깊게 들어가 정리해드릴 예정입니다</a:t>
            </a:r>
            <a:r>
              <a:rPr lang="en-US" altLang="ko-KR" sz="2000" dirty="0"/>
              <a:t>. 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시작 전 당부의 말씀으로는</a:t>
            </a:r>
            <a:r>
              <a:rPr lang="en-US" altLang="ko-KR" sz="2000" dirty="0"/>
              <a:t>,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C00000"/>
                </a:solidFill>
              </a:rPr>
              <a:t>오류에 절대 당황하지 마십시오</a:t>
            </a:r>
            <a:r>
              <a:rPr lang="en-US" altLang="ko-KR" sz="2000" dirty="0">
                <a:solidFill>
                  <a:srgbClr val="C00000"/>
                </a:solidFill>
              </a:rPr>
              <a:t>. 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en-US" altLang="ko-KR" sz="2000" dirty="0"/>
              <a:t> </a:t>
            </a:r>
            <a:r>
              <a:rPr lang="ko-KR" altLang="en-US" sz="2000" dirty="0"/>
              <a:t>컴파일러는 알려줄 뿐입니다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C00000"/>
                </a:solidFill>
              </a:rPr>
              <a:t>궁금하면 코딩해보세요 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- </a:t>
            </a: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예상과 다를 때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배우게 됩니다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C00000"/>
                </a:solidFill>
              </a:rPr>
              <a:t>AI</a:t>
            </a:r>
            <a:r>
              <a:rPr lang="ko-KR" altLang="en-US" sz="2000" dirty="0">
                <a:solidFill>
                  <a:srgbClr val="C00000"/>
                </a:solidFill>
              </a:rPr>
              <a:t>는 알고 사용하세요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- </a:t>
            </a: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알기도 전에 사용할 경우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나에게 </a:t>
            </a:r>
            <a:r>
              <a:rPr lang="ko-KR" altLang="en-U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남는게</a:t>
            </a: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없습니다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C00000"/>
                </a:solidFill>
              </a:rPr>
              <a:t>코드의 메모리 구조는 자주 그려보세요</a:t>
            </a:r>
            <a:endParaRPr lang="en-US" altLang="ko-KR" sz="20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C00000"/>
                </a:solidFill>
              </a:rPr>
              <a:t>				</a:t>
            </a:r>
            <a:r>
              <a:rPr lang="en-US" altLang="ko-KR" sz="2000" dirty="0"/>
              <a:t>- </a:t>
            </a:r>
            <a:r>
              <a:rPr lang="ko-KR" altLang="en-US" sz="2000" dirty="0"/>
              <a:t>메모리 이해가 빨라질 수록 고수가 됩니다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E4FB23C-7B71-C947-1559-146C1CA70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5875" y="1563297"/>
            <a:ext cx="2952902" cy="9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427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23DA44-7594-66A8-2700-82DE86F2F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C/C++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745B19-53B1-AF5B-3EBE-3823530D6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[C++</a:t>
            </a:r>
            <a:r>
              <a:rPr lang="ko-KR" altLang="en-US" sz="1800" b="1" dirty="0"/>
              <a:t>은 메모리를 다루는 언어이다</a:t>
            </a:r>
            <a:r>
              <a:rPr lang="en-US" altLang="ko-KR" sz="1800" b="1" dirty="0"/>
              <a:t>.]</a:t>
            </a:r>
          </a:p>
          <a:p>
            <a:pPr marL="0" indent="0">
              <a:buNone/>
            </a:pPr>
            <a:r>
              <a:rPr lang="ko-KR" altLang="en-US" sz="1100" dirty="0"/>
              <a:t>제 개인적으로 </a:t>
            </a:r>
            <a:r>
              <a:rPr lang="en-US" altLang="ko-KR" sz="1100" dirty="0"/>
              <a:t>C++</a:t>
            </a:r>
            <a:r>
              <a:rPr lang="ko-KR" altLang="en-US" sz="1100" dirty="0"/>
              <a:t>을 공부하면서 다음과 같은 생각을 많이 했습니다</a:t>
            </a:r>
            <a:r>
              <a:rPr lang="en-US" altLang="ko-KR" sz="1100" dirty="0"/>
              <a:t>. </a:t>
            </a:r>
            <a:r>
              <a:rPr lang="en-US" altLang="ko-KR" sz="1100" dirty="0">
                <a:highlight>
                  <a:srgbClr val="FFFF00"/>
                </a:highlight>
              </a:rPr>
              <a:t>C++</a:t>
            </a:r>
            <a:r>
              <a:rPr lang="ko-KR" altLang="en-US" sz="1100" dirty="0">
                <a:highlight>
                  <a:srgbClr val="FFFF00"/>
                </a:highlight>
              </a:rPr>
              <a:t>은 메모리를 다루는 언어</a:t>
            </a:r>
            <a:r>
              <a:rPr lang="ko-KR" altLang="en-US" sz="1100" dirty="0"/>
              <a:t>이다</a:t>
            </a:r>
            <a:r>
              <a:rPr lang="en-US" altLang="ko-KR" sz="1100" dirty="0"/>
              <a:t>. </a:t>
            </a:r>
            <a:br>
              <a:rPr lang="en-US" altLang="ko-KR" sz="1100" dirty="0"/>
            </a:br>
            <a:r>
              <a:rPr lang="ko-KR" altLang="en-US" sz="1100" dirty="0"/>
              <a:t>실제로 </a:t>
            </a:r>
            <a:r>
              <a:rPr lang="en-US" altLang="ko-KR" sz="1100" dirty="0"/>
              <a:t>1</a:t>
            </a:r>
            <a:r>
              <a:rPr lang="ko-KR" altLang="en-US" sz="1100" dirty="0"/>
              <a:t>학년들의 경우 현재 </a:t>
            </a:r>
            <a:r>
              <a:rPr lang="ko-KR" altLang="en-US" sz="1100" dirty="0" err="1"/>
              <a:t>파이썬을</a:t>
            </a:r>
            <a:r>
              <a:rPr lang="ko-KR" altLang="en-US" sz="1100" dirty="0"/>
              <a:t> 배우는 중인데</a:t>
            </a:r>
            <a:r>
              <a:rPr lang="en-US" altLang="ko-KR" sz="1100" dirty="0"/>
              <a:t>,</a:t>
            </a:r>
            <a:r>
              <a:rPr lang="ko-KR" altLang="en-US" sz="1100" dirty="0"/>
              <a:t> </a:t>
            </a:r>
            <a:r>
              <a:rPr lang="ko-KR" altLang="en-US" sz="1100" dirty="0" err="1"/>
              <a:t>파이썬에서</a:t>
            </a:r>
            <a:r>
              <a:rPr lang="ko-KR" altLang="en-US" sz="1100" dirty="0"/>
              <a:t> 정수형은 몇 바이트고</a:t>
            </a:r>
            <a:r>
              <a:rPr lang="en-US" altLang="ko-KR" sz="1100" dirty="0"/>
              <a:t>~ </a:t>
            </a:r>
            <a:r>
              <a:rPr lang="ko-KR" altLang="en-US" sz="1100" dirty="0"/>
              <a:t>문자열은 어떻게 저장되고 </a:t>
            </a:r>
            <a:r>
              <a:rPr lang="en-US" altLang="ko-KR" sz="1100" dirty="0"/>
              <a:t>~ </a:t>
            </a:r>
            <a:r>
              <a:rPr lang="ko-KR" altLang="en-US" sz="1100" dirty="0"/>
              <a:t>하는 부분들 전혀 경험해 본적이 없을 겁니다</a:t>
            </a:r>
            <a:r>
              <a:rPr lang="en-US" altLang="ko-KR" sz="1100" dirty="0"/>
              <a:t>.</a:t>
            </a:r>
          </a:p>
          <a:p>
            <a:pPr marL="0" indent="0">
              <a:buNone/>
            </a:pPr>
            <a:r>
              <a:rPr lang="ko-KR" altLang="en-US" sz="1100" dirty="0"/>
              <a:t>그러나 </a:t>
            </a:r>
            <a:r>
              <a:rPr lang="en-US" altLang="ko-KR" sz="1100" dirty="0"/>
              <a:t>C++</a:t>
            </a:r>
            <a:r>
              <a:rPr lang="ko-KR" altLang="en-US" sz="1100" dirty="0"/>
              <a:t>에서는 포인터 개념을 통해 메모리를 직접적으로 다룹니다</a:t>
            </a:r>
            <a:r>
              <a:rPr lang="en-US" altLang="ko-KR" sz="1100" dirty="0"/>
              <a:t>. </a:t>
            </a:r>
            <a:r>
              <a:rPr lang="ko-KR" altLang="en-US" sz="1100" dirty="0"/>
              <a:t>물론 다른 언어에서 메모리를 다루지 않는다는 뜻은 아닙니다</a:t>
            </a:r>
            <a:r>
              <a:rPr lang="en-US" altLang="ko-KR" sz="1100" dirty="0"/>
              <a:t>. </a:t>
            </a:r>
            <a:r>
              <a:rPr lang="ko-KR" altLang="en-US" sz="1100" dirty="0"/>
              <a:t>다만 다른 언어의 경우 언어가 메모리 관련을 알아서 처리해주는 반면</a:t>
            </a:r>
            <a:r>
              <a:rPr lang="en-US" altLang="ko-KR" sz="1100" dirty="0"/>
              <a:t>, C++</a:t>
            </a:r>
            <a:r>
              <a:rPr lang="ko-KR" altLang="en-US" sz="1100" dirty="0"/>
              <a:t>의 경우 우리가 직접 책임지고 다뤄줘야 합니다</a:t>
            </a:r>
            <a:r>
              <a:rPr lang="en-US" altLang="ko-KR" sz="1100" dirty="0"/>
              <a:t>. </a:t>
            </a:r>
            <a:r>
              <a:rPr lang="ko-KR" altLang="en-US" sz="1100" dirty="0"/>
              <a:t>그만큼 더 어렵습니다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r>
              <a:rPr lang="ko-KR" altLang="en-US" sz="1100" dirty="0"/>
              <a:t>어</a:t>
            </a:r>
            <a:r>
              <a:rPr lang="en-US" altLang="ko-KR" sz="1100" dirty="0"/>
              <a:t>? </a:t>
            </a:r>
            <a:r>
              <a:rPr lang="ko-KR" altLang="en-US" sz="1100" dirty="0"/>
              <a:t>그럼 다른 쉬운 언어들도 있는데 왜 대부분 </a:t>
            </a:r>
            <a:r>
              <a:rPr lang="en-US" altLang="ko-KR" sz="1100" dirty="0"/>
              <a:t>C++</a:t>
            </a:r>
            <a:r>
              <a:rPr lang="ko-KR" altLang="en-US" sz="1100" dirty="0"/>
              <a:t>로 게임을 만드나요</a:t>
            </a:r>
            <a:r>
              <a:rPr lang="en-US" altLang="ko-KR" sz="1100" dirty="0"/>
              <a:t>?</a:t>
            </a:r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r>
              <a:rPr lang="ko-KR" altLang="en-US" sz="1100" dirty="0"/>
              <a:t>이유는 다음과 같습니다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r>
              <a:rPr lang="ko-KR" alt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다른 언어들의 경우 언어 자체에서 메모리 관리를 해주다 보니 그만큼의 성능을 더 잡아먹거나 속도가 느린 경우가 많습니다</a:t>
            </a:r>
            <a:r>
              <a:rPr lang="en-US" altLang="ko-KR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. </a:t>
            </a:r>
            <a:r>
              <a:rPr lang="ko-KR" alt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실제로 </a:t>
            </a:r>
            <a:r>
              <a:rPr lang="en-US" altLang="ko-KR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C++</a:t>
            </a:r>
            <a:r>
              <a:rPr lang="ko-KR" alt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의 경우 대부분의 최적화가 속도에 맞춰져 있습니다</a:t>
            </a:r>
            <a:r>
              <a:rPr lang="en-US" altLang="ko-KR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. </a:t>
            </a:r>
          </a:p>
          <a:p>
            <a:pPr marL="0" indent="0">
              <a:buNone/>
            </a:pPr>
            <a:r>
              <a:rPr lang="ko-KR" alt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그렇기에 실시간 상호작용 프로그램인 게임에서는 더할 나위 없이 잘 맞는 언어입니다</a:t>
            </a:r>
            <a:r>
              <a:rPr lang="en-US" altLang="ko-KR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. </a:t>
            </a:r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r>
              <a:rPr lang="ko-KR" altLang="en-US" sz="1100" dirty="0"/>
              <a:t>또한 게임공학과에서 </a:t>
            </a:r>
            <a:r>
              <a:rPr lang="ko-KR" altLang="en-US" sz="1100" dirty="0" err="1"/>
              <a:t>메인은</a:t>
            </a:r>
            <a:r>
              <a:rPr lang="ko-KR" altLang="en-US" sz="1100" dirty="0"/>
              <a:t> </a:t>
            </a:r>
            <a:r>
              <a:rPr lang="en-US" altLang="ko-KR" sz="1100" dirty="0"/>
              <a:t>C++</a:t>
            </a:r>
            <a:r>
              <a:rPr lang="ko-KR" altLang="en-US" sz="1100" dirty="0"/>
              <a:t>입니다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r>
              <a:rPr lang="ko-KR" altLang="en-US" sz="1100" dirty="0"/>
              <a:t>솔직하게 말해서 </a:t>
            </a:r>
            <a:r>
              <a:rPr lang="en-US" altLang="ko-KR" sz="1100" dirty="0"/>
              <a:t>C++</a:t>
            </a:r>
            <a:r>
              <a:rPr lang="ko-KR" altLang="en-US" sz="1100" dirty="0"/>
              <a:t>을 못한다</a:t>
            </a:r>
            <a:r>
              <a:rPr lang="en-US" altLang="ko-KR" sz="1100" dirty="0"/>
              <a:t>? </a:t>
            </a:r>
            <a:r>
              <a:rPr lang="ko-KR" altLang="en-US" sz="1100" dirty="0"/>
              <a:t>많이 </a:t>
            </a:r>
            <a:r>
              <a:rPr lang="ko-KR" altLang="en-US" sz="1100" dirty="0" err="1"/>
              <a:t>힘들겁니다</a:t>
            </a:r>
            <a:r>
              <a:rPr lang="en-US" altLang="ko-KR" sz="1100" dirty="0"/>
              <a:t>. </a:t>
            </a:r>
            <a:r>
              <a:rPr lang="ko-KR" altLang="en-US" sz="1100" dirty="0"/>
              <a:t>많이 </a:t>
            </a:r>
            <a:r>
              <a:rPr lang="ko-KR" altLang="en-US" sz="1100" dirty="0" err="1"/>
              <a:t>가혹할겁니다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r>
              <a:rPr lang="ko-KR" altLang="en-US" sz="1100" dirty="0"/>
              <a:t>마음 굳게 먹고 </a:t>
            </a:r>
            <a:r>
              <a:rPr lang="ko-KR" altLang="en-US" sz="1100" dirty="0" err="1"/>
              <a:t>따라오십쇼</a:t>
            </a:r>
            <a:r>
              <a:rPr lang="en-US" altLang="ko-KR" sz="1100" dirty="0"/>
              <a:t>.</a:t>
            </a:r>
          </a:p>
          <a:p>
            <a:pPr marL="0" indent="0">
              <a:buNone/>
            </a:pP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3393794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64BCF0-0C5A-A70D-B4A3-B3DB39CAD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C/C++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B4BBB3-7086-B94F-3D59-2CB0C277C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[</a:t>
            </a:r>
            <a:r>
              <a:rPr lang="ko-KR" altLang="en-US" sz="1800" b="1" dirty="0"/>
              <a:t>프로그램은 어떻게 만들어지는가</a:t>
            </a:r>
            <a:r>
              <a:rPr lang="en-US" altLang="ko-KR" sz="1800" b="1" dirty="0"/>
              <a:t>]</a:t>
            </a:r>
          </a:p>
          <a:p>
            <a:pPr marL="0" indent="0">
              <a:buNone/>
            </a:pPr>
            <a:r>
              <a:rPr lang="ko-KR" altLang="en-US" sz="1100" dirty="0"/>
              <a:t>앞으로 우리는 수많은 코드를 작성하게 될 겁니다</a:t>
            </a:r>
            <a:r>
              <a:rPr lang="en-US" altLang="ko-KR" sz="1100" dirty="0"/>
              <a:t>.</a:t>
            </a:r>
            <a:r>
              <a:rPr lang="ko-KR" altLang="en-US" sz="1100" dirty="0"/>
              <a:t> 그러나 이 코드들은 바로 실행되지 않습니다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r>
              <a:rPr lang="ko-KR" altLang="en-US" sz="1100" dirty="0"/>
              <a:t>바로 다음의 일련의 과정을 거쳐 우리가 실행할 수 있는 실행파일</a:t>
            </a:r>
            <a:r>
              <a:rPr lang="en-US" altLang="ko-KR" sz="1100" dirty="0"/>
              <a:t>(.exe)</a:t>
            </a:r>
            <a:r>
              <a:rPr lang="ko-KR" altLang="en-US" sz="1100" dirty="0"/>
              <a:t>이 만들어집니다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r>
              <a:rPr lang="ko-KR" altLang="en-US" sz="1100" dirty="0">
                <a:highlight>
                  <a:srgbClr val="FFFF00"/>
                </a:highlight>
              </a:rPr>
              <a:t>컴파일</a:t>
            </a:r>
            <a:r>
              <a:rPr lang="ko-KR" altLang="en-US" sz="1100" dirty="0"/>
              <a:t> </a:t>
            </a:r>
            <a:r>
              <a:rPr lang="en-US" altLang="ko-KR" sz="1100" dirty="0"/>
              <a:t>: </a:t>
            </a:r>
            <a:r>
              <a:rPr lang="ko-KR" altLang="en-US" sz="1100" dirty="0"/>
              <a:t>코드를 기계어로 변환</a:t>
            </a:r>
            <a:endParaRPr lang="en-US" altLang="ko-KR" sz="1100" dirty="0"/>
          </a:p>
          <a:p>
            <a:pPr marL="0" indent="0">
              <a:buNone/>
            </a:pPr>
            <a:r>
              <a:rPr lang="ko-KR" altLang="en-US" sz="1100" dirty="0" err="1">
                <a:highlight>
                  <a:srgbClr val="FFFF00"/>
                </a:highlight>
              </a:rPr>
              <a:t>링킹</a:t>
            </a:r>
            <a:r>
              <a:rPr lang="ko-KR" altLang="en-US" sz="1100" dirty="0"/>
              <a:t> </a:t>
            </a:r>
            <a:r>
              <a:rPr lang="en-US" altLang="ko-KR" sz="1100" dirty="0"/>
              <a:t>: </a:t>
            </a:r>
            <a:r>
              <a:rPr lang="ko-KR" altLang="en-US" sz="1100" dirty="0"/>
              <a:t>기계어로 변환된 코드 조각과 필요한 라이브러리들을 결합</a:t>
            </a:r>
            <a:endParaRPr lang="en-US" altLang="ko-KR" sz="1100" dirty="0"/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r>
              <a:rPr lang="ko-KR" altLang="en-US" sz="1100" dirty="0"/>
              <a:t>위의 과정을 </a:t>
            </a:r>
            <a:r>
              <a:rPr lang="en-US" altLang="ko-KR" sz="1100" dirty="0"/>
              <a:t>“</a:t>
            </a:r>
            <a:r>
              <a:rPr lang="ko-KR" altLang="en-US" sz="1100" dirty="0"/>
              <a:t>빌드</a:t>
            </a:r>
            <a:r>
              <a:rPr lang="en-US" altLang="ko-KR" sz="1100" dirty="0"/>
              <a:t>＂</a:t>
            </a:r>
            <a:r>
              <a:rPr lang="ko-KR" altLang="en-US" sz="1100" dirty="0"/>
              <a:t>라고 합니다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endParaRPr lang="ko-KR" altLang="en-US" sz="1100" dirty="0"/>
          </a:p>
        </p:txBody>
      </p:sp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79590579-FFEA-0023-832F-9E992FABB6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7804835"/>
              </p:ext>
            </p:extLst>
          </p:nvPr>
        </p:nvGraphicFramePr>
        <p:xfrm>
          <a:off x="981675" y="2613454"/>
          <a:ext cx="9533926" cy="16310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2309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966D25-1DBC-4D1A-E045-F8ADE8B8F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C/C++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B5FD33-C99A-767D-E9B6-06157C12B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[</a:t>
            </a:r>
            <a:r>
              <a:rPr lang="ko-KR" altLang="en-US" sz="1800" b="1" dirty="0"/>
              <a:t>컴파일 타임 </a:t>
            </a:r>
            <a:r>
              <a:rPr lang="en-US" altLang="ko-KR" sz="1800" b="1" dirty="0"/>
              <a:t>vs</a:t>
            </a:r>
            <a:r>
              <a:rPr lang="ko-KR" altLang="en-US" sz="1800" b="1" dirty="0"/>
              <a:t> 런타임</a:t>
            </a:r>
            <a:r>
              <a:rPr lang="en-US" altLang="ko-KR" sz="1800" b="1" dirty="0"/>
              <a:t>]</a:t>
            </a:r>
          </a:p>
          <a:p>
            <a:pPr marL="0" indent="0">
              <a:buNone/>
            </a:pPr>
            <a:r>
              <a:rPr lang="ko-KR" altLang="en-US" sz="1100" dirty="0"/>
              <a:t>앞으로 우리가 코딩을 하면서 수많은 오류들을 마주치게 됩니다</a:t>
            </a:r>
            <a:r>
              <a:rPr lang="en-US" altLang="ko-KR" sz="1100" dirty="0"/>
              <a:t>. </a:t>
            </a:r>
            <a:r>
              <a:rPr lang="ko-KR" altLang="en-US" sz="1100" dirty="0"/>
              <a:t>이때 중요하게 작용하는 개념입니다</a:t>
            </a:r>
            <a:r>
              <a:rPr lang="en-US" altLang="ko-KR" sz="1100" dirty="0"/>
              <a:t>.</a:t>
            </a:r>
          </a:p>
          <a:p>
            <a:pPr marL="0" indent="0">
              <a:buNone/>
            </a:pPr>
            <a:r>
              <a:rPr lang="ko-KR" altLang="en-US" sz="1100" dirty="0"/>
              <a:t>프로그램에는 두 개의 시간이 존재합니다</a:t>
            </a:r>
            <a:r>
              <a:rPr lang="en-US" altLang="ko-KR" sz="1100" dirty="0"/>
              <a:t>. </a:t>
            </a:r>
          </a:p>
          <a:p>
            <a:pPr>
              <a:buFontTx/>
              <a:buChar char="-"/>
            </a:pPr>
            <a:r>
              <a:rPr lang="ko-KR" altLang="en-US" sz="1100" dirty="0">
                <a:highlight>
                  <a:srgbClr val="FFFF00"/>
                </a:highlight>
              </a:rPr>
              <a:t>컴파일 타임</a:t>
            </a:r>
            <a:endParaRPr lang="en-US" altLang="ko-KR" sz="1100" dirty="0">
              <a:highlight>
                <a:srgbClr val="FFFF00"/>
              </a:highlight>
            </a:endParaRPr>
          </a:p>
          <a:p>
            <a:pPr>
              <a:buFont typeface="Wingdings" panose="05000000000000000000" pitchFamily="2" charset="2"/>
              <a:buChar char="è"/>
            </a:pPr>
            <a:r>
              <a:rPr lang="ko-KR" altLang="en-US" sz="1100" dirty="0"/>
              <a:t>코드 변환 단계</a:t>
            </a:r>
            <a:endParaRPr lang="en-US" altLang="ko-KR" sz="1100" dirty="0"/>
          </a:p>
          <a:p>
            <a:pPr>
              <a:buFont typeface="Wingdings" panose="05000000000000000000" pitchFamily="2" charset="2"/>
              <a:buChar char="è"/>
            </a:pPr>
            <a:r>
              <a:rPr lang="ko-KR" altLang="en-US" sz="1100" dirty="0"/>
              <a:t>문법 오류 발생</a:t>
            </a:r>
            <a:endParaRPr lang="en-US" altLang="ko-KR" sz="1100" dirty="0"/>
          </a:p>
          <a:p>
            <a:pPr>
              <a:buFont typeface="Wingdings" panose="05000000000000000000" pitchFamily="2" charset="2"/>
              <a:buChar char="è"/>
            </a:pPr>
            <a:endParaRPr lang="en-US" altLang="ko-KR" sz="1100" dirty="0"/>
          </a:p>
          <a:p>
            <a:pPr>
              <a:buFontTx/>
              <a:buChar char="-"/>
            </a:pPr>
            <a:r>
              <a:rPr lang="ko-KR" altLang="en-US" sz="1100" dirty="0">
                <a:highlight>
                  <a:srgbClr val="FFFF00"/>
                </a:highlight>
              </a:rPr>
              <a:t>런타임</a:t>
            </a:r>
            <a:endParaRPr lang="en-US" altLang="ko-KR" sz="1100" dirty="0">
              <a:highlight>
                <a:srgbClr val="FFFF00"/>
              </a:highlight>
            </a:endParaRPr>
          </a:p>
          <a:p>
            <a:pPr>
              <a:buFont typeface="Wingdings" panose="05000000000000000000" pitchFamily="2" charset="2"/>
              <a:buChar char="è"/>
            </a:pPr>
            <a:r>
              <a:rPr lang="ko-KR" altLang="en-US" sz="1100" dirty="0"/>
              <a:t>프로그램 실행 단계</a:t>
            </a:r>
            <a:endParaRPr lang="en-US" altLang="ko-KR" sz="1100" dirty="0"/>
          </a:p>
          <a:p>
            <a:pPr>
              <a:buFont typeface="Wingdings" panose="05000000000000000000" pitchFamily="2" charset="2"/>
              <a:buChar char="è"/>
            </a:pPr>
            <a:r>
              <a:rPr lang="ko-KR" altLang="en-US" sz="1100" dirty="0"/>
              <a:t>논리</a:t>
            </a:r>
            <a:r>
              <a:rPr lang="en-US" altLang="ko-KR" sz="1100" dirty="0"/>
              <a:t>/</a:t>
            </a:r>
            <a:r>
              <a:rPr lang="ko-KR" altLang="en-US" sz="1100" dirty="0"/>
              <a:t>메모리 오류 발생</a:t>
            </a:r>
            <a:endParaRPr lang="en-US" altLang="ko-KR" sz="1100" dirty="0"/>
          </a:p>
          <a:p>
            <a:pPr>
              <a:buFont typeface="Wingdings" panose="05000000000000000000" pitchFamily="2" charset="2"/>
              <a:buChar char="è"/>
            </a:pPr>
            <a:endParaRPr lang="en-US" altLang="ko-KR" sz="1100" dirty="0"/>
          </a:p>
          <a:p>
            <a:pPr marL="0" indent="0">
              <a:buNone/>
            </a:pPr>
            <a:r>
              <a:rPr lang="ko-KR" altLang="en-US" sz="1100" dirty="0"/>
              <a:t>컴파일 타임에 오류가 생긴다면 대부분 코드 자체 문제이고</a:t>
            </a:r>
            <a:r>
              <a:rPr lang="en-US" altLang="ko-KR" sz="1100" dirty="0"/>
              <a:t>,</a:t>
            </a:r>
          </a:p>
          <a:p>
            <a:pPr marL="0" indent="0">
              <a:buNone/>
            </a:pPr>
            <a:r>
              <a:rPr lang="ko-KR" altLang="en-US" sz="1100" dirty="0"/>
              <a:t>런타임에 오류가 생긴다면 대부분 </a:t>
            </a:r>
            <a:r>
              <a:rPr lang="ko-KR" altLang="en-US" sz="1100" dirty="0" err="1"/>
              <a:t>로직문제</a:t>
            </a:r>
            <a:r>
              <a:rPr lang="ko-KR" altLang="en-US" sz="1100" dirty="0"/>
              <a:t> 혹은 실행 중 상태 문제입니다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r>
              <a:rPr lang="ko-KR" altLang="en-US" sz="1100" dirty="0"/>
              <a:t>이를 통해 오류가 언제 터졌는지를 보고</a:t>
            </a:r>
            <a:r>
              <a:rPr lang="en-US" altLang="ko-KR" sz="1100" dirty="0"/>
              <a:t>, </a:t>
            </a:r>
            <a:r>
              <a:rPr lang="ko-KR" altLang="en-US" sz="1100" dirty="0"/>
              <a:t>원인을 바로잡는 </a:t>
            </a:r>
            <a:r>
              <a:rPr lang="en-US" altLang="ko-KR" sz="1100" dirty="0">
                <a:highlight>
                  <a:srgbClr val="FFFF00"/>
                </a:highlight>
              </a:rPr>
              <a:t>‘</a:t>
            </a:r>
            <a:r>
              <a:rPr lang="ko-KR" altLang="en-US" sz="1100" dirty="0">
                <a:highlight>
                  <a:srgbClr val="FFFF00"/>
                </a:highlight>
              </a:rPr>
              <a:t>디버깅</a:t>
            </a:r>
            <a:r>
              <a:rPr lang="en-US" altLang="ko-KR" sz="1100" dirty="0">
                <a:highlight>
                  <a:srgbClr val="FFFF00"/>
                </a:highlight>
              </a:rPr>
              <a:t>＇</a:t>
            </a:r>
            <a:r>
              <a:rPr lang="ko-KR" altLang="en-US" sz="1100" dirty="0"/>
              <a:t>을 수월하게 할 수 있습니다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48043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0A387B-23A8-BC54-E960-AED3F17BB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C/C++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6E733F-054A-D954-7E9A-5F0EBC4B8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[</a:t>
            </a:r>
            <a:r>
              <a:rPr lang="ko-KR" altLang="en-US" sz="1800" b="1" dirty="0"/>
              <a:t>프로그램 시작 </a:t>
            </a:r>
            <a:r>
              <a:rPr lang="en-US" altLang="ko-KR" sz="1800" b="1" dirty="0"/>
              <a:t>= </a:t>
            </a:r>
            <a:r>
              <a:rPr lang="ko-KR" altLang="en-US" sz="1800" b="1" dirty="0"/>
              <a:t>메모리 사용 시작</a:t>
            </a:r>
            <a:r>
              <a:rPr lang="en-US" altLang="ko-KR" sz="1800" b="1" dirty="0"/>
              <a:t>]</a:t>
            </a:r>
          </a:p>
          <a:p>
            <a:pPr marL="0" indent="0">
              <a:buNone/>
            </a:pPr>
            <a:r>
              <a:rPr lang="ko-KR" altLang="en-US" sz="1100" dirty="0"/>
              <a:t>우리가 코드를 작성하고 빌드하여 실행파일을 만들었다고 생각해봅시다</a:t>
            </a:r>
            <a:r>
              <a:rPr lang="en-US" altLang="ko-KR" sz="1100" dirty="0"/>
              <a:t>. </a:t>
            </a:r>
            <a:r>
              <a:rPr lang="ko-KR" altLang="en-US" sz="1100" dirty="0"/>
              <a:t>그럼 당연히 </a:t>
            </a:r>
            <a:r>
              <a:rPr lang="ko-KR" altLang="en-US" sz="1100" dirty="0" err="1"/>
              <a:t>실행해보아야겠죠</a:t>
            </a:r>
            <a:r>
              <a:rPr lang="en-US" altLang="ko-KR" sz="1100" dirty="0"/>
              <a:t>?</a:t>
            </a:r>
          </a:p>
          <a:p>
            <a:pPr marL="0" indent="0">
              <a:buNone/>
            </a:pPr>
            <a:r>
              <a:rPr lang="ko-KR" altLang="en-US" sz="1100" dirty="0"/>
              <a:t>프로그램 실행의 과정은 다음과 같습니다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r>
              <a:rPr lang="ko-KR" altLang="en-US" sz="1100" dirty="0" err="1"/>
              <a:t>빌드된</a:t>
            </a:r>
            <a:r>
              <a:rPr lang="ko-KR" altLang="en-US" sz="1100" dirty="0"/>
              <a:t> 실행파일</a:t>
            </a:r>
            <a:r>
              <a:rPr lang="en-US" altLang="ko-KR" sz="1100" dirty="0"/>
              <a:t>(.exe)</a:t>
            </a:r>
            <a:r>
              <a:rPr lang="ko-KR" altLang="en-US" sz="1100" dirty="0"/>
              <a:t>의 경우 </a:t>
            </a:r>
            <a:r>
              <a:rPr lang="ko-KR" altLang="en-US" sz="1100" dirty="0">
                <a:highlight>
                  <a:srgbClr val="FFFF00"/>
                </a:highlight>
              </a:rPr>
              <a:t>저장장치</a:t>
            </a:r>
            <a:r>
              <a:rPr lang="en-US" altLang="ko-KR" sz="1100" dirty="0"/>
              <a:t>(HDD or SSD)</a:t>
            </a:r>
            <a:r>
              <a:rPr lang="ko-KR" altLang="en-US" sz="1100" dirty="0"/>
              <a:t>에 </a:t>
            </a:r>
            <a:r>
              <a:rPr lang="ko-KR" altLang="en-US" sz="1100" dirty="0" err="1"/>
              <a:t>저장되어있습니다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r>
              <a:rPr lang="ko-KR" altLang="en-US" sz="1100" dirty="0"/>
              <a:t>우리가 실행하면 </a:t>
            </a:r>
            <a:r>
              <a:rPr lang="en-US" altLang="ko-KR" sz="1100" dirty="0"/>
              <a:t>Window(</a:t>
            </a:r>
            <a:r>
              <a:rPr lang="en-US" altLang="ko-KR" sz="1100" dirty="0">
                <a:highlight>
                  <a:srgbClr val="FFFF00"/>
                </a:highlight>
              </a:rPr>
              <a:t>OS)</a:t>
            </a:r>
            <a:r>
              <a:rPr lang="ko-KR" altLang="en-US" sz="1100" dirty="0"/>
              <a:t>는 실행파일을 </a:t>
            </a:r>
            <a:r>
              <a:rPr lang="ko-KR" altLang="en-US" sz="1100" dirty="0">
                <a:highlight>
                  <a:srgbClr val="FFFF00"/>
                </a:highlight>
              </a:rPr>
              <a:t>메모리</a:t>
            </a:r>
            <a:r>
              <a:rPr lang="en-US" altLang="ko-KR" sz="1100" dirty="0"/>
              <a:t>(RAM)</a:t>
            </a:r>
            <a:r>
              <a:rPr lang="ko-KR" altLang="en-US" sz="1100" dirty="0"/>
              <a:t>에 </a:t>
            </a:r>
            <a:r>
              <a:rPr lang="ko-KR" altLang="en-US" sz="1100" dirty="0">
                <a:highlight>
                  <a:srgbClr val="FFFF00"/>
                </a:highlight>
              </a:rPr>
              <a:t>공간을 할당</a:t>
            </a:r>
            <a:r>
              <a:rPr lang="ko-KR" altLang="en-US" sz="1100" dirty="0"/>
              <a:t>하여 올리게 됩니다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r>
              <a:rPr lang="ko-KR" altLang="en-US" sz="1100" dirty="0"/>
              <a:t>이후 메모리에 모든 데이터가 올라갔다면</a:t>
            </a:r>
            <a:r>
              <a:rPr lang="en-US" altLang="ko-KR" sz="1100" dirty="0"/>
              <a:t>, </a:t>
            </a:r>
            <a:r>
              <a:rPr lang="ko-KR" altLang="en-US" sz="1100" dirty="0"/>
              <a:t>우리가 작성해둔 </a:t>
            </a:r>
            <a:r>
              <a:rPr lang="ko-KR" altLang="en-US" sz="1100" dirty="0">
                <a:highlight>
                  <a:srgbClr val="FFFF00"/>
                </a:highlight>
              </a:rPr>
              <a:t>코드대로 실행</a:t>
            </a:r>
            <a:r>
              <a:rPr lang="ko-KR" altLang="en-US" sz="1100" dirty="0"/>
              <a:t>되게 됩니다</a:t>
            </a:r>
            <a:r>
              <a:rPr lang="en-US" altLang="ko-KR" sz="1100" dirty="0"/>
              <a:t>.</a:t>
            </a:r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r>
              <a:rPr lang="ko-KR" altLang="en-US" sz="1100" dirty="0"/>
              <a:t>이때 할당되는 메모리는 그림과 같은 구조를 형성합니다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r>
              <a:rPr lang="en-US" altLang="ko-KR" sz="1100" dirty="0">
                <a:highlight>
                  <a:srgbClr val="FFFF00"/>
                </a:highlight>
              </a:rPr>
              <a:t>STACK HEAP(Free Store) DATA CODE </a:t>
            </a:r>
            <a:r>
              <a:rPr lang="ko-KR" altLang="en-US" sz="1100" dirty="0"/>
              <a:t>총 네 부분으로 나뉩니다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r>
              <a:rPr lang="en-US" altLang="ko-KR" sz="1100" dirty="0">
                <a:solidFill>
                  <a:srgbClr val="C00000"/>
                </a:solidFill>
              </a:rPr>
              <a:t>*</a:t>
            </a:r>
            <a:r>
              <a:rPr lang="ko-KR" altLang="en-US" sz="1100" dirty="0">
                <a:solidFill>
                  <a:srgbClr val="C00000"/>
                </a:solidFill>
              </a:rPr>
              <a:t>추후 </a:t>
            </a:r>
            <a:r>
              <a:rPr lang="ko-KR" altLang="en-US" sz="1100" dirty="0" err="1">
                <a:solidFill>
                  <a:srgbClr val="C00000"/>
                </a:solidFill>
              </a:rPr>
              <a:t>초인터</a:t>
            </a:r>
            <a:r>
              <a:rPr lang="ko-KR" altLang="en-US" sz="1100" dirty="0">
                <a:solidFill>
                  <a:srgbClr val="C00000"/>
                </a:solidFill>
              </a:rPr>
              <a:t> 개념부터 메모리 구조가 </a:t>
            </a:r>
            <a:r>
              <a:rPr lang="ko-KR" altLang="en-US" sz="1100" dirty="0" err="1">
                <a:solidFill>
                  <a:srgbClr val="C00000"/>
                </a:solidFill>
              </a:rPr>
              <a:t>중요해집니다</a:t>
            </a:r>
            <a:r>
              <a:rPr lang="en-US" altLang="ko-KR" sz="1100" dirty="0">
                <a:solidFill>
                  <a:srgbClr val="C00000"/>
                </a:solidFill>
              </a:rPr>
              <a:t>. </a:t>
            </a:r>
            <a:r>
              <a:rPr lang="ko-KR" altLang="en-US" sz="1100" dirty="0">
                <a:solidFill>
                  <a:srgbClr val="C00000"/>
                </a:solidFill>
              </a:rPr>
              <a:t>기억해두세요</a:t>
            </a:r>
            <a:br>
              <a:rPr lang="en-US" altLang="ko-KR" sz="1100" dirty="0">
                <a:solidFill>
                  <a:srgbClr val="C00000"/>
                </a:solidFill>
              </a:rPr>
            </a:br>
            <a:r>
              <a:rPr lang="en-US" altLang="ko-KR" sz="1100" dirty="0">
                <a:solidFill>
                  <a:srgbClr val="C00000"/>
                </a:solidFill>
              </a:rPr>
              <a:t>*2</a:t>
            </a:r>
            <a:r>
              <a:rPr lang="ko-KR" altLang="en-US" sz="1100" dirty="0" err="1">
                <a:solidFill>
                  <a:srgbClr val="C00000"/>
                </a:solidFill>
              </a:rPr>
              <a:t>학기때</a:t>
            </a:r>
            <a:r>
              <a:rPr lang="ko-KR" altLang="en-US" sz="1100" dirty="0">
                <a:solidFill>
                  <a:srgbClr val="C00000"/>
                </a:solidFill>
              </a:rPr>
              <a:t> 만날 윤정현 교수님의 수업을 위해 </a:t>
            </a:r>
            <a:r>
              <a:rPr lang="en-US" altLang="ko-KR" sz="1100" dirty="0">
                <a:solidFill>
                  <a:srgbClr val="C00000"/>
                </a:solidFill>
              </a:rPr>
              <a:t>HEAP</a:t>
            </a:r>
            <a:r>
              <a:rPr lang="ko-KR" altLang="en-US" sz="1100" dirty="0">
                <a:solidFill>
                  <a:srgbClr val="C00000"/>
                </a:solidFill>
              </a:rPr>
              <a:t>이 아닌 </a:t>
            </a:r>
            <a:r>
              <a:rPr lang="en-US" altLang="ko-KR" sz="1100" dirty="0">
                <a:solidFill>
                  <a:srgbClr val="C00000"/>
                </a:solidFill>
              </a:rPr>
              <a:t>Free Store</a:t>
            </a:r>
            <a:r>
              <a:rPr lang="ko-KR" altLang="en-US" sz="1100" dirty="0">
                <a:solidFill>
                  <a:srgbClr val="C00000"/>
                </a:solidFill>
              </a:rPr>
              <a:t>로 기억해두세요</a:t>
            </a:r>
            <a:endParaRPr lang="en-US" altLang="ko-KR" sz="11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ko-KR" sz="11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ko-KR" altLang="en-US" sz="1100" dirty="0"/>
              <a:t>프로그램이 모두 메모리에 올라간다</a:t>
            </a:r>
            <a:r>
              <a:rPr lang="en-US" altLang="ko-KR" sz="1100" dirty="0"/>
              <a:t>? -&gt; </a:t>
            </a:r>
            <a:r>
              <a:rPr lang="ko-KR" altLang="en-US" sz="1100" dirty="0">
                <a:highlight>
                  <a:srgbClr val="FFFF00"/>
                </a:highlight>
              </a:rPr>
              <a:t>프로그램은 코드</a:t>
            </a:r>
            <a:r>
              <a:rPr lang="en-US" altLang="ko-KR" sz="1100" dirty="0">
                <a:highlight>
                  <a:srgbClr val="FFFF00"/>
                </a:highlight>
              </a:rPr>
              <a:t>/</a:t>
            </a:r>
            <a:r>
              <a:rPr lang="ko-KR" altLang="en-US" sz="1100" dirty="0">
                <a:highlight>
                  <a:srgbClr val="FFFF00"/>
                </a:highlight>
              </a:rPr>
              <a:t>명령에 따라 메모리를 읽고 쓸 뿐입니다</a:t>
            </a:r>
            <a:r>
              <a:rPr lang="en-US" altLang="ko-KR" sz="1100" dirty="0"/>
              <a:t>.  </a:t>
            </a:r>
            <a:endParaRPr lang="ko-KR" altLang="en-US" sz="11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CC8D251-6E51-CE78-C28E-67DF5E7A2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5415" y="1992481"/>
            <a:ext cx="1423035" cy="377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768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1D7AD-936D-7132-48C6-8D519643F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C/C++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5A8137-F9A8-6695-DB4E-C50C18F96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[</a:t>
            </a:r>
            <a:r>
              <a:rPr lang="ko-KR" altLang="en-US" sz="1800" b="1" dirty="0"/>
              <a:t>변수의 본질</a:t>
            </a:r>
            <a:r>
              <a:rPr lang="en-US" altLang="ko-KR" sz="1800" b="1" dirty="0"/>
              <a:t>]</a:t>
            </a:r>
          </a:p>
          <a:p>
            <a:pPr marL="0" indent="0">
              <a:buNone/>
            </a:pPr>
            <a:r>
              <a:rPr lang="ko-KR" altLang="en-US" sz="1100" dirty="0"/>
              <a:t>이전 슬라이드에서 프로그램은 메모리를 읽고 쓸 뿐이라 했는데 어떤 메모리를 읽고 </a:t>
            </a:r>
            <a:r>
              <a:rPr lang="ko-KR" altLang="en-US" sz="1100" dirty="0" err="1"/>
              <a:t>쓰는거에요</a:t>
            </a:r>
            <a:r>
              <a:rPr lang="en-US" altLang="ko-KR" sz="1100" dirty="0"/>
              <a:t>?</a:t>
            </a:r>
          </a:p>
          <a:p>
            <a:pPr marL="0" indent="0">
              <a:buNone/>
            </a:pPr>
            <a:r>
              <a:rPr lang="ko-KR" altLang="en-US" sz="1100" dirty="0"/>
              <a:t>대부분의 경우에는 변수를 읽고 쓰는 편입니다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r>
              <a:rPr lang="ko-KR" altLang="en-US" sz="1100" dirty="0"/>
              <a:t>그럼 변수는 무엇이냐</a:t>
            </a:r>
            <a:r>
              <a:rPr lang="en-US" altLang="ko-KR" sz="1100" dirty="0"/>
              <a:t>?</a:t>
            </a:r>
          </a:p>
          <a:p>
            <a:pPr marL="0" indent="0">
              <a:buNone/>
            </a:pPr>
            <a:r>
              <a:rPr lang="ko-KR" altLang="en-US" sz="1100" dirty="0"/>
              <a:t>수학에서 들어본 변수와 같습니다</a:t>
            </a:r>
            <a:r>
              <a:rPr lang="en-US" altLang="ko-KR" sz="1100" dirty="0"/>
              <a:t>. </a:t>
            </a:r>
            <a:r>
              <a:rPr lang="ko-KR" altLang="en-US" sz="1100" dirty="0"/>
              <a:t>변할 수 있는 값입니다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r>
              <a:rPr lang="ko-KR" altLang="en-US" sz="1100" dirty="0"/>
              <a:t>컴퓨터에서 의미하는 변수는 다음과 같습니다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r>
              <a:rPr lang="ko-KR" altLang="en-US" sz="1100" dirty="0">
                <a:highlight>
                  <a:srgbClr val="FFFF00"/>
                </a:highlight>
              </a:rPr>
              <a:t>변수 </a:t>
            </a:r>
            <a:r>
              <a:rPr lang="en-US" altLang="ko-KR" sz="1100" dirty="0">
                <a:highlight>
                  <a:srgbClr val="FFFF00"/>
                </a:highlight>
              </a:rPr>
              <a:t>= </a:t>
            </a:r>
            <a:r>
              <a:rPr lang="ko-KR" altLang="en-US" sz="1100" dirty="0">
                <a:highlight>
                  <a:srgbClr val="FFFF00"/>
                </a:highlight>
              </a:rPr>
              <a:t>메모리 공간</a:t>
            </a:r>
            <a:r>
              <a:rPr lang="en-US" altLang="ko-KR" sz="1100" dirty="0">
                <a:highlight>
                  <a:srgbClr val="FFFF00"/>
                </a:highlight>
              </a:rPr>
              <a:t>(</a:t>
            </a:r>
            <a:r>
              <a:rPr lang="ko-KR" altLang="en-US" sz="1100" dirty="0">
                <a:highlight>
                  <a:srgbClr val="FFFF00"/>
                </a:highlight>
              </a:rPr>
              <a:t>타입</a:t>
            </a:r>
            <a:r>
              <a:rPr lang="en-US" altLang="ko-KR" sz="1100" dirty="0">
                <a:highlight>
                  <a:srgbClr val="FFFF00"/>
                </a:highlight>
              </a:rPr>
              <a:t>)</a:t>
            </a:r>
            <a:r>
              <a:rPr lang="ko-KR" altLang="en-US" sz="1100" dirty="0">
                <a:highlight>
                  <a:srgbClr val="FFFF00"/>
                </a:highlight>
              </a:rPr>
              <a:t> </a:t>
            </a:r>
            <a:r>
              <a:rPr lang="en-US" altLang="ko-KR" sz="1100" dirty="0">
                <a:highlight>
                  <a:srgbClr val="FFFF00"/>
                </a:highlight>
              </a:rPr>
              <a:t>+ </a:t>
            </a:r>
            <a:r>
              <a:rPr lang="ko-KR" altLang="en-US" sz="1100" dirty="0">
                <a:highlight>
                  <a:srgbClr val="FFFF00"/>
                </a:highlight>
              </a:rPr>
              <a:t>이름</a:t>
            </a:r>
            <a:endParaRPr lang="en-US" altLang="ko-KR" sz="1100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altLang="ko-KR" sz="1100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ko-KR" altLang="en-US" sz="1100" dirty="0"/>
              <a:t>그림의 코드를 해석해보도록 합시다</a:t>
            </a:r>
            <a:r>
              <a:rPr lang="en-US" altLang="ko-KR" sz="1100" dirty="0"/>
              <a:t>. </a:t>
            </a:r>
            <a:r>
              <a:rPr lang="ko-KR" altLang="en-US" sz="1100" dirty="0"/>
              <a:t>다음은 </a:t>
            </a:r>
            <a:r>
              <a:rPr lang="ko-KR" altLang="en-US" sz="1100" dirty="0">
                <a:highlight>
                  <a:srgbClr val="FFFF00"/>
                </a:highlight>
              </a:rPr>
              <a:t>변수를 </a:t>
            </a:r>
            <a:r>
              <a:rPr lang="en-US" altLang="ko-KR" sz="1100" dirty="0">
                <a:highlight>
                  <a:srgbClr val="FFFF00"/>
                </a:highlight>
              </a:rPr>
              <a:t>‘</a:t>
            </a:r>
            <a:r>
              <a:rPr lang="ko-KR" altLang="en-US" sz="1100" dirty="0">
                <a:highlight>
                  <a:srgbClr val="FFFF00"/>
                </a:highlight>
              </a:rPr>
              <a:t>선언</a:t>
            </a:r>
            <a:r>
              <a:rPr lang="en-US" altLang="ko-KR" sz="1100" dirty="0">
                <a:highlight>
                  <a:srgbClr val="FFFF00"/>
                </a:highlight>
              </a:rPr>
              <a:t>＇</a:t>
            </a:r>
            <a:r>
              <a:rPr lang="ko-KR" altLang="en-US" sz="1100" dirty="0"/>
              <a:t>하는 코드입니다</a:t>
            </a:r>
            <a:r>
              <a:rPr lang="en-US" altLang="ko-KR" sz="1100" dirty="0"/>
              <a:t>.</a:t>
            </a:r>
          </a:p>
          <a:p>
            <a:pPr marL="0" indent="0">
              <a:buNone/>
            </a:pPr>
            <a:r>
              <a:rPr lang="en-US" altLang="ko-KR" sz="1100" dirty="0"/>
              <a:t>int</a:t>
            </a:r>
            <a:r>
              <a:rPr lang="ko-KR" altLang="en-US" sz="1100" dirty="0"/>
              <a:t> </a:t>
            </a:r>
            <a:r>
              <a:rPr lang="en-US" altLang="ko-KR" sz="1100" dirty="0"/>
              <a:t>a{ 10 };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altLang="ko-KR" sz="1100" dirty="0"/>
              <a:t>OS</a:t>
            </a:r>
            <a:r>
              <a:rPr lang="ko-KR" altLang="en-US" sz="1100" dirty="0"/>
              <a:t>야</a:t>
            </a:r>
            <a:r>
              <a:rPr lang="en-US" altLang="ko-KR" sz="1100" dirty="0"/>
              <a:t>, int </a:t>
            </a:r>
            <a:r>
              <a:rPr lang="ko-KR" altLang="en-US" sz="1100" dirty="0" err="1"/>
              <a:t>크키</a:t>
            </a:r>
            <a:r>
              <a:rPr lang="en-US" altLang="ko-KR" sz="1100" dirty="0"/>
              <a:t> </a:t>
            </a:r>
            <a:r>
              <a:rPr lang="ko-KR" altLang="en-US" sz="1100" dirty="0"/>
              <a:t>만큼의 메모리를 할당해줘</a:t>
            </a:r>
            <a:r>
              <a:rPr lang="en-US" altLang="ko-KR" sz="1100" dirty="0"/>
              <a:t>. </a:t>
            </a:r>
            <a:r>
              <a:rPr lang="ko-KR" altLang="en-US" sz="1100" dirty="0"/>
              <a:t>그리고 그 메모리에는 </a:t>
            </a:r>
            <a:r>
              <a:rPr lang="en-US" altLang="ko-KR" sz="1100" dirty="0"/>
              <a:t>10</a:t>
            </a:r>
            <a:r>
              <a:rPr lang="ko-KR" altLang="en-US" sz="1100" dirty="0"/>
              <a:t>이라는 값을 작성해줘</a:t>
            </a:r>
            <a:r>
              <a:rPr lang="en-US" altLang="ko-KR" sz="1100" dirty="0"/>
              <a:t>. </a:t>
            </a:r>
          </a:p>
          <a:p>
            <a:pPr>
              <a:buFont typeface="Wingdings" panose="05000000000000000000" pitchFamily="2" charset="2"/>
              <a:buChar char="è"/>
            </a:pPr>
            <a:endParaRPr lang="en-US" altLang="ko-KR" sz="1100" dirty="0"/>
          </a:p>
          <a:p>
            <a:pPr marL="0" indent="0">
              <a:buNone/>
            </a:pPr>
            <a:r>
              <a:rPr lang="ko-KR" altLang="en-US" sz="1100" dirty="0"/>
              <a:t>이처럼 변수는 값이 아니라 </a:t>
            </a:r>
            <a:r>
              <a:rPr lang="ko-KR" altLang="en-US" sz="1100" dirty="0">
                <a:highlight>
                  <a:srgbClr val="FFFF00"/>
                </a:highlight>
              </a:rPr>
              <a:t>메모리 공간의 이름</a:t>
            </a:r>
            <a:r>
              <a:rPr lang="ko-KR" altLang="en-US" sz="1100" dirty="0"/>
              <a:t>이라고 생각하는 게 좋습니다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r>
              <a:rPr lang="ko-KR" altLang="en-US" sz="1100" dirty="0"/>
              <a:t>그리고 각 메모리 공간은 값을 담고 있습니다</a:t>
            </a:r>
            <a:r>
              <a:rPr lang="en-US" altLang="ko-KR" sz="1100" dirty="0"/>
              <a:t>. </a:t>
            </a:r>
            <a:endParaRPr lang="ko-KR" altLang="en-US" sz="11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9719B7C-7E77-5961-E66B-BC7F6AA0D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73" y="2635209"/>
            <a:ext cx="3968954" cy="158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710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F988A3-9D39-F24C-830D-A0240190B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C/C++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B47AF6-B08B-664E-F5E9-51A74A736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[</a:t>
            </a:r>
            <a:r>
              <a:rPr lang="ko-KR" altLang="en-US" sz="1800" b="1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메모리 생성과 수명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]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자 우리는 이제 변수가 메모리 공간이라는 것을 알았습니다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그럼 이전에 배운 내용과 조금 융합해봅시다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우리가 만든 프로그램도 메모리에 올라간다고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즉 할당된다고 했는데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변수도 메모리에 할당되네요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네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프로그램과 변수 모두 메모리에 할당됩니다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여기서 자세한 설명을 통해 개념적립을 하고 갑시다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ko-KR" sz="1100" dirty="0">
              <a:solidFill>
                <a:prstClr val="black"/>
              </a:solidFill>
              <a:latin typeface="맑은 고딕" panose="0211000402020202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프로그램은 어느 메모리에 존재하는가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프로그램을 보는 관점에 따라 말이 안되기도 하는 질문이지만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지금은 우리가 작성한 코드를 프로그램이라고 생각합시다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프로그램을 실행하면</a:t>
            </a: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OS</a:t>
            </a: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가 메모리를 할당하고</a:t>
            </a: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네 부분의 메모리 구조를 만듭니다</a:t>
            </a: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  <a:t>프로그램은 이중 </a:t>
            </a:r>
            <a:r>
              <a:rPr lang="en-US" altLang="ko-K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  <a:t>CODE </a:t>
            </a: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  <a:t>부분에 저장됩니다</a:t>
            </a:r>
            <a:r>
              <a:rPr lang="en-US" altLang="ko-K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10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그럼 변수는 어느 메모리에 존재하나요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100" dirty="0">
                <a:latin typeface="맑은 고딕" panose="02110004020202020204"/>
                <a:ea typeface="맑은 고딕" panose="020B0503020000020004" pitchFamily="50" charset="-127"/>
              </a:rPr>
              <a:t>변수의 경우 어떤 </a:t>
            </a:r>
            <a:r>
              <a:rPr lang="ko-KR" altLang="en-US" sz="1100" dirty="0" err="1">
                <a:latin typeface="맑은 고딕" panose="02110004020202020204"/>
                <a:ea typeface="맑은 고딕" panose="020B0503020000020004" pitchFamily="50" charset="-127"/>
              </a:rPr>
              <a:t>변수냐에</a:t>
            </a:r>
            <a:r>
              <a:rPr lang="ko-KR" altLang="en-US" sz="1100" dirty="0">
                <a:latin typeface="맑은 고딕" panose="02110004020202020204"/>
                <a:ea typeface="맑은 고딕" panose="020B0503020000020004" pitchFamily="50" charset="-127"/>
              </a:rPr>
              <a:t> 따라 할당되는 구역이 달라집니다</a:t>
            </a:r>
            <a:r>
              <a:rPr lang="en-US" altLang="ko-KR" sz="1100" dirty="0">
                <a:latin typeface="맑은 고딕" panose="02110004020202020204"/>
                <a:ea typeface="맑은 고딕" panose="020B0503020000020004" pitchFamily="50" charset="-127"/>
              </a:rPr>
              <a:t>. </a:t>
            </a:r>
            <a:r>
              <a:rPr lang="ko-KR" altLang="en-US" sz="1100" dirty="0">
                <a:latin typeface="맑은 고딕" panose="02110004020202020204"/>
                <a:ea typeface="맑은 고딕" panose="020B0503020000020004" pitchFamily="50" charset="-127"/>
              </a:rPr>
              <a:t>정확히 알기 위해 다음을 알고 가도록 합시다</a:t>
            </a:r>
            <a:r>
              <a:rPr lang="en-US" altLang="ko-KR" sz="1100" dirty="0">
                <a:latin typeface="맑은 고딕" panose="02110004020202020204"/>
                <a:ea typeface="맑은 고딕" panose="020B0503020000020004" pitchFamily="50" charset="-127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lang="en-US" altLang="ko-KR" sz="1100" dirty="0">
                <a:latin typeface="맑은 고딕" panose="02110004020202020204"/>
                <a:ea typeface="맑은 고딕" panose="020B0503020000020004" pitchFamily="50" charset="-127"/>
              </a:rPr>
            </a:br>
            <a:r>
              <a:rPr lang="en-US" altLang="ko-KR" sz="1100" b="1" dirty="0">
                <a:latin typeface="맑은 고딕" panose="02110004020202020204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latin typeface="맑은 고딕" panose="02110004020202020204"/>
                <a:ea typeface="맑은 고딕" panose="020B0503020000020004" pitchFamily="50" charset="-127"/>
              </a:rPr>
              <a:t>전역변수</a:t>
            </a:r>
            <a:r>
              <a:rPr lang="en-US" altLang="ko-KR" sz="1100" b="1" dirty="0">
                <a:latin typeface="맑은 고딕" panose="02110004020202020204"/>
                <a:ea typeface="맑은 고딕" panose="020B0503020000020004" pitchFamily="50" charset="-127"/>
              </a:rPr>
              <a:t>] [</a:t>
            </a:r>
            <a:r>
              <a:rPr lang="ko-KR" altLang="en-US" sz="1100" b="1" dirty="0">
                <a:latin typeface="맑은 고딕" panose="02110004020202020204"/>
                <a:ea typeface="맑은 고딕" panose="020B0503020000020004" pitchFamily="50" charset="-127"/>
              </a:rPr>
              <a:t>지역변수</a:t>
            </a:r>
            <a:r>
              <a:rPr lang="en-US" altLang="ko-KR" sz="1100" b="1" dirty="0">
                <a:latin typeface="맑은 고딕" panose="02110004020202020204"/>
                <a:ea typeface="맑은 고딕" panose="020B0503020000020004" pitchFamily="50" charset="-127"/>
              </a:rPr>
              <a:t>] [</a:t>
            </a:r>
            <a:r>
              <a:rPr lang="ko-KR" altLang="en-US" sz="1100" b="1" dirty="0">
                <a:latin typeface="맑은 고딕" panose="02110004020202020204"/>
                <a:ea typeface="맑은 고딕" panose="020B0503020000020004" pitchFamily="50" charset="-127"/>
              </a:rPr>
              <a:t>포인터</a:t>
            </a:r>
            <a:r>
              <a:rPr lang="en-US" altLang="ko-KR" sz="1100" b="1" dirty="0">
                <a:latin typeface="맑은 고딕" panose="02110004020202020204"/>
                <a:ea typeface="맑은 고딕" panose="020B0503020000020004" pitchFamily="50" charset="-127"/>
              </a:rPr>
              <a:t>]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3083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E39278-B908-3787-6C9E-0D763B8BF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C/C++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ECE1B5-5A05-FB3A-176A-5B1A0B6F5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메모리 생성과 수명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–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전역변수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지역변수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포인터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]</a:t>
            </a:r>
          </a:p>
          <a:p>
            <a:pPr marL="0" indent="0">
              <a:buNone/>
            </a:pPr>
            <a:r>
              <a:rPr lang="ko-KR" altLang="en-US" sz="1100" dirty="0"/>
              <a:t>해당 개념을 접근하기 전 코드의 지역에 관한 이해가 필요합니다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r>
              <a:rPr lang="ko-KR" altLang="en-US" sz="1100" dirty="0"/>
              <a:t>기본적으로 </a:t>
            </a:r>
            <a:r>
              <a:rPr lang="en-US" altLang="ko-KR" sz="1100" dirty="0"/>
              <a:t>C/C++</a:t>
            </a:r>
            <a:r>
              <a:rPr lang="ko-KR" altLang="en-US" sz="1100" dirty="0"/>
              <a:t>은 다음과 같은 기본 코드를 가집니다</a:t>
            </a:r>
            <a:r>
              <a:rPr lang="en-US" altLang="ko-KR" sz="1100" dirty="0"/>
              <a:t>. Main</a:t>
            </a:r>
            <a:r>
              <a:rPr lang="ko-KR" altLang="en-US" sz="1100" dirty="0"/>
              <a:t>함수 범위 안에 있는 코드들이 실행되는 방식이죠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r>
              <a:rPr lang="ko-KR" altLang="en-US" sz="1100" dirty="0"/>
              <a:t>이때 </a:t>
            </a:r>
            <a:r>
              <a:rPr lang="en-US" altLang="ko-KR" sz="1100" dirty="0"/>
              <a:t>main</a:t>
            </a:r>
            <a:r>
              <a:rPr lang="ko-KR" altLang="en-US" sz="1100" dirty="0"/>
              <a:t>의 뒤에서 열린 </a:t>
            </a:r>
            <a:r>
              <a:rPr lang="en-US" altLang="ko-KR" sz="1100" dirty="0"/>
              <a:t>{ } </a:t>
            </a:r>
            <a:r>
              <a:rPr lang="ko-KR" altLang="en-US" sz="1100" dirty="0"/>
              <a:t>해당</a:t>
            </a:r>
            <a:r>
              <a:rPr lang="en-US" altLang="ko-KR" sz="1100" dirty="0"/>
              <a:t> </a:t>
            </a:r>
            <a:r>
              <a:rPr lang="ko-KR" altLang="en-US" sz="1100" dirty="0"/>
              <a:t>괄호가 지역을 나타내게 됩니다</a:t>
            </a:r>
            <a:r>
              <a:rPr lang="en-US" altLang="ko-KR" sz="1100" dirty="0"/>
              <a:t>. </a:t>
            </a:r>
            <a:r>
              <a:rPr lang="ko-KR" altLang="en-US" sz="1100" dirty="0"/>
              <a:t>여기서는 </a:t>
            </a:r>
            <a:r>
              <a:rPr lang="en-US" altLang="ko-KR" sz="1100" dirty="0"/>
              <a:t>main </a:t>
            </a:r>
            <a:r>
              <a:rPr lang="ko-KR" altLang="en-US" sz="1100" dirty="0"/>
              <a:t>범위</a:t>
            </a:r>
            <a:r>
              <a:rPr lang="en-US" altLang="ko-KR" sz="1100" dirty="0"/>
              <a:t>/</a:t>
            </a:r>
            <a:r>
              <a:rPr lang="ko-KR" altLang="en-US" sz="1100" dirty="0"/>
              <a:t>지역이 되는 것이죠</a:t>
            </a:r>
            <a:endParaRPr lang="en-US" altLang="ko-KR" sz="1100" dirty="0"/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r>
              <a:rPr lang="ko-KR" altLang="en-US" sz="1100" dirty="0"/>
              <a:t>그럼</a:t>
            </a:r>
            <a:r>
              <a:rPr lang="en-US" altLang="ko-KR" sz="1100" dirty="0"/>
              <a:t> </a:t>
            </a:r>
            <a:r>
              <a:rPr lang="ko-KR" altLang="en-US" sz="1100" dirty="0"/>
              <a:t>지역은 </a:t>
            </a:r>
            <a:r>
              <a:rPr lang="en-US" altLang="ko-KR" sz="1100" dirty="0"/>
              <a:t>main</a:t>
            </a:r>
            <a:r>
              <a:rPr lang="ko-KR" altLang="en-US" sz="1100" dirty="0"/>
              <a:t>으로만 구분되나요</a:t>
            </a:r>
            <a:r>
              <a:rPr lang="en-US" altLang="ko-KR" sz="1100" dirty="0"/>
              <a:t>? </a:t>
            </a:r>
          </a:p>
          <a:p>
            <a:pPr marL="0" indent="0">
              <a:buNone/>
            </a:pPr>
            <a:r>
              <a:rPr lang="ko-KR" altLang="en-US" sz="1100" dirty="0"/>
              <a:t>아닙니다</a:t>
            </a:r>
            <a:r>
              <a:rPr lang="en-US" altLang="ko-KR" sz="1100" dirty="0"/>
              <a:t>. { }</a:t>
            </a:r>
            <a:r>
              <a:rPr lang="ko-KR" altLang="en-US" sz="1100" dirty="0"/>
              <a:t>로 묶이게 되는 모든 부분이 지역이 됩니다</a:t>
            </a:r>
            <a:r>
              <a:rPr lang="en-US" altLang="ko-KR" sz="1100" dirty="0"/>
              <a:t>. </a:t>
            </a:r>
            <a:r>
              <a:rPr lang="ko-KR" altLang="en-US" sz="1100" dirty="0"/>
              <a:t>이 부분은 직접 코딩해가며 </a:t>
            </a:r>
            <a:r>
              <a:rPr lang="ko-KR" altLang="en-US" sz="1100" dirty="0" err="1"/>
              <a:t>체화하실</a:t>
            </a:r>
            <a:r>
              <a:rPr lang="ko-KR" altLang="en-US" sz="1100" dirty="0"/>
              <a:t> 수 있습니다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r>
              <a:rPr lang="ko-KR" altLang="en-US" sz="1100" dirty="0"/>
              <a:t>지역 예시</a:t>
            </a:r>
            <a:r>
              <a:rPr lang="en-US" altLang="ko-KR" sz="1100" dirty="0"/>
              <a:t>) main</a:t>
            </a:r>
            <a:r>
              <a:rPr lang="ko-KR" altLang="en-US" sz="1100" dirty="0"/>
              <a:t>으로 묶인 지역 </a:t>
            </a:r>
            <a:r>
              <a:rPr lang="en-US" altLang="ko-KR" sz="1100" dirty="0"/>
              <a:t>/  main</a:t>
            </a:r>
            <a:r>
              <a:rPr lang="ko-KR" altLang="en-US" sz="1100" dirty="0"/>
              <a:t> 내부의 지역 </a:t>
            </a:r>
            <a:r>
              <a:rPr lang="en-US" altLang="ko-KR" sz="1100" dirty="0"/>
              <a:t>/ add </a:t>
            </a:r>
            <a:r>
              <a:rPr lang="ko-KR" altLang="en-US" sz="1100" dirty="0"/>
              <a:t>함수 지역</a:t>
            </a:r>
            <a:endParaRPr lang="en-US" altLang="ko-KR" sz="1100" dirty="0"/>
          </a:p>
          <a:p>
            <a:pPr marL="0" indent="0">
              <a:buNone/>
            </a:pPr>
            <a:endParaRPr lang="en-US" altLang="ko-KR" sz="11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A5BC3E3-D835-733A-4D8B-054079B17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941" y="2147497"/>
            <a:ext cx="2952902" cy="9716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D4D521B-A831-AF08-F3C9-06B179410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93" y="4448137"/>
            <a:ext cx="3151807" cy="132375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E5E5C8B-9050-3207-E5AD-BD037A09F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529" y="4448137"/>
            <a:ext cx="3442941" cy="154932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2A5EBF5-BBE8-27A0-D1CD-5AF59E2E41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1799" y="4409167"/>
            <a:ext cx="3344438" cy="151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192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BB41CF-4FCD-9552-0411-120C06F48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j-cs"/>
              </a:rPr>
              <a:t>C/C++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0F9744-E8F9-21CC-1EF4-687F2E021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메모리 생성과 수명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–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전역변수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지역변수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포인터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]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지역에 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관한 부분이 이해가 되었다면 </a:t>
            </a:r>
            <a:r>
              <a:rPr lang="ko-KR" altLang="en-US" sz="1100" dirty="0">
                <a:solidFill>
                  <a:prstClr val="black"/>
                </a:solidFill>
                <a:highlight>
                  <a:srgbClr val="FFFF00"/>
                </a:highlight>
                <a:latin typeface="맑은 고딕" panose="02110004020202020204"/>
                <a:ea typeface="맑은 고딕" panose="020B0503020000020004" pitchFamily="50" charset="-127"/>
              </a:rPr>
              <a:t>전역변수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부터 살펴봅시다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전역변수의 경우 지역 밖에서 선언된 변수를 의미합니다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ko-KR" sz="1100" dirty="0">
              <a:solidFill>
                <a:prstClr val="black"/>
              </a:solidFill>
              <a:latin typeface="맑은 고딕" panose="0211000402020202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그림에 있는 코드에서는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global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이 전역변수가 되겠습니다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ko-KR" sz="1100" dirty="0">
              <a:solidFill>
                <a:prstClr val="black"/>
              </a:solidFill>
              <a:latin typeface="맑은 고딕" panose="0211000402020202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저희 그런데 메모리 구조에 대해서 이야기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하고있지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않았나요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네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맞습니다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이전에 우리는 프로그램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즉 우리가 작성한 코드가 </a:t>
            </a:r>
            <a:r>
              <a:rPr lang="ko-KR" altLang="en-US" sz="1100" dirty="0" err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할당받은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 메모리의 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CODE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구역에 저장된다는 것을 살펴 봤죠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  <a:t>전역변수는 </a:t>
            </a:r>
            <a:r>
              <a:rPr lang="en-US" altLang="ko-K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  <a:t>DATA</a:t>
            </a: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  <a:t>구역에 할당됩니다</a:t>
            </a:r>
            <a:r>
              <a:rPr lang="en-US" altLang="ko-K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r>
              <a:rPr lang="en-US" altLang="ko-KR" sz="1100" dirty="0"/>
              <a:t>DATA</a:t>
            </a:r>
            <a:r>
              <a:rPr lang="ko-KR" altLang="en-US" sz="1100" dirty="0"/>
              <a:t>구역에 저장되기 때문에 전체 메모리가 사라지기 전까지 전역변수를 사용할 수 있습니다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r>
              <a:rPr lang="ko-KR" altLang="en-US" sz="1100" dirty="0"/>
              <a:t>이때 전체 메모리가 사라진다는 것은 프로그램을 종료하여 </a:t>
            </a:r>
            <a:r>
              <a:rPr lang="en-US" altLang="ko-KR" sz="1100" dirty="0"/>
              <a:t>RAM</a:t>
            </a:r>
            <a:r>
              <a:rPr lang="ko-KR" altLang="en-US" sz="1100" dirty="0"/>
              <a:t>에서 할당 받았던 메모리를 반환하는 것을 의미합니다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r>
              <a:rPr lang="ko-KR" altLang="en-US" sz="1100" dirty="0"/>
              <a:t>정리하면</a:t>
            </a:r>
            <a:r>
              <a:rPr lang="en-US" altLang="ko-KR" sz="1100" dirty="0"/>
              <a:t>,</a:t>
            </a:r>
          </a:p>
          <a:p>
            <a:pPr marL="0" indent="0">
              <a:buNone/>
            </a:pP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전역변수는 프로그램의 시작과 같이 저장되어 프로그램 종료까지 사용이 가능합니다</a:t>
            </a:r>
            <a:r>
              <a:rPr lang="en-US" altLang="ko-KR" sz="11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8B4098-CBBB-8A83-C3F1-6F3B21DCF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4730" y="2235162"/>
            <a:ext cx="3391074" cy="147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308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5907A-F1C3-8001-06D5-B4FE060A6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6B6E7C-1C78-0E51-5A99-262555FB4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j-cs"/>
              </a:rPr>
              <a:t>C/C++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A363B1-0FBE-8E8D-C35C-EDB0EDE7A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메모리 생성과 수명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–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전역변수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지역변수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포인터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]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이번에는 </a:t>
            </a:r>
            <a:r>
              <a:rPr lang="ko-KR" altLang="en-US" sz="1100" dirty="0">
                <a:solidFill>
                  <a:prstClr val="black"/>
                </a:solidFill>
                <a:highlight>
                  <a:srgbClr val="FFFF00"/>
                </a:highlight>
                <a:latin typeface="맑은 고딕" panose="02110004020202020204"/>
                <a:ea typeface="맑은 고딕" panose="020B0503020000020004" pitchFamily="50" charset="-127"/>
              </a:rPr>
              <a:t>지역변수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에 대해 살펴보도록 합시다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100" dirty="0"/>
              <a:t>우선 우리는 </a:t>
            </a:r>
            <a:r>
              <a:rPr lang="en-US" altLang="ko-KR" sz="1100" dirty="0"/>
              <a:t>{ }</a:t>
            </a:r>
            <a:r>
              <a:rPr lang="ko-KR" altLang="en-US" sz="1100" dirty="0"/>
              <a:t>로 묶인 부분이 지역이라는 것을 배웠습니다</a:t>
            </a:r>
            <a:r>
              <a:rPr lang="en-US" altLang="ko-KR" sz="1100" dirty="0"/>
              <a:t>. </a:t>
            </a:r>
            <a:r>
              <a:rPr lang="ko-KR" altLang="en-US" sz="1100" dirty="0"/>
              <a:t>그렇다면 지역변수가 무엇인지 감이 오시나요</a:t>
            </a:r>
            <a:r>
              <a:rPr lang="en-US" altLang="ko-KR" sz="1100" dirty="0"/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ko-KR" sz="1100" dirty="0"/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지역변수는 지역 내에서 선언되어 지역의 종료와 함께 메모리에서 사라집니다</a:t>
            </a:r>
            <a:r>
              <a:rPr lang="en-US" altLang="ko-KR" sz="11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ko-KR" sz="11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100" dirty="0"/>
              <a:t>그럼 메모리 구조의 네 구역 중 어디에 할당되나요</a:t>
            </a:r>
            <a:r>
              <a:rPr lang="en-US" altLang="ko-KR" sz="1100" dirty="0"/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메모리 구조에서는 </a:t>
            </a:r>
            <a:r>
              <a:rPr lang="en-US" altLang="ko-KR" sz="11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STACK </a:t>
            </a: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구역에 할당됩니다</a:t>
            </a:r>
            <a:r>
              <a:rPr lang="en-US" altLang="ko-KR" sz="11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ko-KR" sz="1100" dirty="0"/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1100" dirty="0">
                <a:highlight>
                  <a:srgbClr val="FFFF00"/>
                </a:highlight>
              </a:rPr>
              <a:t>STACK</a:t>
            </a:r>
            <a:r>
              <a:rPr lang="ko-KR" altLang="en-US" sz="1100" dirty="0"/>
              <a:t>의 경우 앞으로 우리가 배울 </a:t>
            </a:r>
            <a:r>
              <a:rPr lang="ko-KR" altLang="en-US" sz="1100" dirty="0">
                <a:highlight>
                  <a:srgbClr val="FFFF00"/>
                </a:highlight>
              </a:rPr>
              <a:t>자료구조의 스택</a:t>
            </a:r>
            <a:r>
              <a:rPr lang="ko-KR" altLang="en-US" sz="1100" dirty="0"/>
              <a:t>과 같은 말입니다</a:t>
            </a:r>
            <a:r>
              <a:rPr lang="en-US" altLang="ko-KR" sz="1100" dirty="0"/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100" dirty="0"/>
              <a:t>지금 상황에 맞게 간단하게만 소개하면 </a:t>
            </a:r>
            <a:r>
              <a:rPr lang="en-US" altLang="ko-KR" sz="1100" dirty="0">
                <a:highlight>
                  <a:srgbClr val="FFFF00"/>
                </a:highlight>
              </a:rPr>
              <a:t>FILO</a:t>
            </a:r>
            <a:r>
              <a:rPr lang="ko-KR" altLang="en-US" sz="1100" dirty="0"/>
              <a:t>만 기억하시면 됩니다</a:t>
            </a:r>
            <a:r>
              <a:rPr lang="en-US" altLang="ko-KR" sz="1100" dirty="0"/>
              <a:t>. </a:t>
            </a:r>
            <a:r>
              <a:rPr lang="ko-KR" altLang="en-US" sz="1100" dirty="0"/>
              <a:t>컵 안에 </a:t>
            </a:r>
            <a:r>
              <a:rPr lang="ko-KR" altLang="en-US" sz="1100" dirty="0" err="1"/>
              <a:t>물건를</a:t>
            </a:r>
            <a:r>
              <a:rPr lang="ko-KR" altLang="en-US" sz="1100" dirty="0"/>
              <a:t> 하나씩 넣으면 가장 마지막에 넣은 물건부터 꺼낼 수 있듯이</a:t>
            </a:r>
            <a:r>
              <a:rPr lang="en-US" altLang="ko-KR" sz="1100" dirty="0"/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1100" dirty="0">
                <a:highlight>
                  <a:srgbClr val="FFFF00"/>
                </a:highlight>
              </a:rPr>
              <a:t>First In Last Out</a:t>
            </a:r>
            <a:r>
              <a:rPr lang="ko-KR" altLang="en-US" sz="1100" dirty="0"/>
              <a:t>의 구조를 가지고 있습니다</a:t>
            </a:r>
            <a:r>
              <a:rPr lang="en-US" altLang="ko-KR" sz="1100" dirty="0"/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100" dirty="0"/>
              <a:t>지역이 열렸다는 정보가 스택에 담기고 그 정보위에 변수가 저장되게 됩니다</a:t>
            </a:r>
            <a:r>
              <a:rPr lang="en-US" altLang="ko-KR" sz="1100" dirty="0"/>
              <a:t>. </a:t>
            </a:r>
            <a:r>
              <a:rPr lang="ko-KR" altLang="en-US" sz="1100" dirty="0"/>
              <a:t>이후 지역이 끝나게 되면 스택에서 지역이 열렸다는 정보를 </a:t>
            </a:r>
            <a:r>
              <a:rPr lang="ko-KR" altLang="en-US" sz="1100" dirty="0" err="1"/>
              <a:t>꺼내야하는데</a:t>
            </a:r>
            <a:r>
              <a:rPr lang="ko-KR" altLang="en-US" sz="1100" dirty="0"/>
              <a:t> </a:t>
            </a:r>
            <a:br>
              <a:rPr lang="en-US" altLang="ko-KR" sz="1100" dirty="0"/>
            </a:br>
            <a:r>
              <a:rPr lang="ko-KR" altLang="en-US" sz="1100" dirty="0"/>
              <a:t>변수 정보가 먼저 있게 되죠</a:t>
            </a:r>
            <a:r>
              <a:rPr lang="en-US" altLang="ko-KR" sz="1100" dirty="0"/>
              <a:t>? </a:t>
            </a:r>
            <a:r>
              <a:rPr lang="ko-KR" altLang="en-US" sz="1100" dirty="0"/>
              <a:t>그래서 변수를 꺼내고 지역을 종료하게 됩니다</a:t>
            </a:r>
            <a:r>
              <a:rPr lang="en-US" altLang="ko-KR" sz="1100" dirty="0"/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100" dirty="0"/>
              <a:t>수많은 지역이 열리고 닫혀도 모두 동일하게 </a:t>
            </a:r>
            <a:r>
              <a:rPr lang="en-US" altLang="ko-KR" sz="1100" dirty="0"/>
              <a:t>STACK</a:t>
            </a:r>
            <a:r>
              <a:rPr lang="ko-KR" altLang="en-US" sz="1100" dirty="0"/>
              <a:t>위에서 쌓이고 사라집니다</a:t>
            </a:r>
            <a:r>
              <a:rPr lang="en-US" altLang="ko-KR" sz="1100" dirty="0"/>
              <a:t>.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312BBFE-D262-8D46-D65E-04CFA8FB4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4730" y="2235162"/>
            <a:ext cx="3391074" cy="147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10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24F7A-2FB2-837A-E678-485F32801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48699-3642-1389-8507-020A2AB41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j-cs"/>
              </a:rPr>
              <a:t>C/C++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515105-E801-E9DD-A2BE-DE1637BA0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메모리 생성과 수명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–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전역변수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지역변수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포인터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]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이번에는 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C/C++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에서 가장 악명높은 초보자 절단기 </a:t>
            </a:r>
            <a:r>
              <a:rPr lang="ko-KR" altLang="en-US" sz="1100" dirty="0">
                <a:solidFill>
                  <a:prstClr val="black"/>
                </a:solidFill>
                <a:highlight>
                  <a:srgbClr val="FFFF00"/>
                </a:highlight>
                <a:latin typeface="맑은 고딕" panose="02110004020202020204"/>
                <a:ea typeface="맑은 고딕" panose="020B0503020000020004" pitchFamily="50" charset="-127"/>
              </a:rPr>
              <a:t>포인터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를 살펴봅시다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우선 이전에 살펴본 전역변수와 지역변수의 경우 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DATA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와 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STACK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에 저장됩니다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  <a:b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</a:b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이때 </a:t>
            </a:r>
            <a:r>
              <a:rPr lang="en-US" altLang="ko-KR" sz="1100" dirty="0">
                <a:solidFill>
                  <a:prstClr val="black"/>
                </a:solidFill>
                <a:highlight>
                  <a:srgbClr val="FFFF00"/>
                </a:highlight>
                <a:latin typeface="맑은 고딕" panose="02110004020202020204"/>
                <a:ea typeface="맑은 고딕" panose="020B0503020000020004" pitchFamily="50" charset="-127"/>
              </a:rPr>
              <a:t>DATA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구역은 프로그램이 시작하며 </a:t>
            </a:r>
            <a:r>
              <a:rPr lang="ko-KR" altLang="en-US" sz="1100" dirty="0" err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정해지기때문에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 </a:t>
            </a:r>
            <a:r>
              <a:rPr lang="ko-KR" altLang="en-US" sz="1100" dirty="0">
                <a:solidFill>
                  <a:prstClr val="black"/>
                </a:solidFill>
                <a:highlight>
                  <a:srgbClr val="FFFF00"/>
                </a:highlight>
                <a:latin typeface="맑은 고딕" panose="02110004020202020204"/>
                <a:ea typeface="맑은 고딕" panose="020B0503020000020004" pitchFamily="50" charset="-127"/>
              </a:rPr>
              <a:t>늘어나지 않는 구역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입니다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  <a:b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</a:b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그리고 </a:t>
            </a:r>
            <a:r>
              <a:rPr lang="en-US" altLang="ko-KR" sz="1100" dirty="0">
                <a:solidFill>
                  <a:prstClr val="black"/>
                </a:solidFill>
                <a:highlight>
                  <a:srgbClr val="FFFF00"/>
                </a:highlight>
                <a:latin typeface="맑은 고딕" panose="02110004020202020204"/>
                <a:ea typeface="맑은 고딕" panose="020B0503020000020004" pitchFamily="50" charset="-127"/>
              </a:rPr>
              <a:t>STACK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의 경우 </a:t>
            </a:r>
            <a:r>
              <a:rPr lang="ko-KR" altLang="en-US" sz="1100" dirty="0">
                <a:solidFill>
                  <a:prstClr val="black"/>
                </a:solidFill>
                <a:highlight>
                  <a:srgbClr val="FFFF00"/>
                </a:highlight>
                <a:latin typeface="맑은 고딕" panose="02110004020202020204"/>
                <a:ea typeface="맑은 고딕" panose="020B0503020000020004" pitchFamily="50" charset="-127"/>
              </a:rPr>
              <a:t>최대 크기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가 정해져 있어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한계를 넘어가게 되면 </a:t>
            </a:r>
            <a:b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</a:b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STACK overflow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라는 오류를 발생시킵니다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. 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어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? 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그럼 우리가 만들 게임은 수많은 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NPC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와 유저 데이터들이 </a:t>
            </a:r>
            <a:r>
              <a:rPr lang="ko-KR" altLang="en-US" sz="1100" dirty="0" err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필요할텐데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 어디에 </a:t>
            </a:r>
            <a:r>
              <a:rPr lang="ko-KR" altLang="en-US" sz="1100" dirty="0" err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저장해야되요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그래서 우리는 늘어날 수 있는 메모리 구역인 </a:t>
            </a: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HEAP(Free Store)</a:t>
            </a: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를 </a:t>
            </a:r>
            <a:r>
              <a:rPr kumimoji="0" lang="ko-KR" alt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사용할겁니다</a:t>
            </a: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이때 주의해야 할 점이 있습니다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이전에 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DATA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와 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STACK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에 변수를 </a:t>
            </a:r>
            <a:r>
              <a:rPr lang="ko-KR" altLang="en-US" sz="1100" dirty="0" err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할당받을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 때는 </a:t>
            </a:r>
            <a:r>
              <a:rPr lang="ko-KR" altLang="en-US" sz="1100" dirty="0" err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할당받은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 메모리에 이름을 붙일 수 있었습니다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  <a:b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</a:b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모두 컴파일 타임에 </a:t>
            </a:r>
            <a:r>
              <a:rPr lang="ko-KR" altLang="en-US" sz="1100" dirty="0" err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할당받을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 것이 결정되었기 때문이죠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그러나 </a:t>
            </a: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HEAP</a:t>
            </a: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의 경우 런타임 중에 </a:t>
            </a:r>
            <a:r>
              <a:rPr kumimoji="0" lang="ko-KR" altLang="en-US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할당받습니다</a:t>
            </a: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결국 </a:t>
            </a: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HEAP</a:t>
            </a: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에서 </a:t>
            </a:r>
            <a:r>
              <a:rPr kumimoji="0" lang="ko-KR" altLang="en-US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할당받은</a:t>
            </a: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메모리에 대해 미리 이름을 붙이지 못합니다</a:t>
            </a: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이름을 붙이지 못하면 우리는 </a:t>
            </a:r>
            <a:r>
              <a:rPr lang="ko-KR" altLang="en-US" sz="1100" dirty="0" err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할당받은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 메모리 공간을 어떻게 </a:t>
            </a:r>
            <a:r>
              <a:rPr lang="ko-KR" altLang="en-US" sz="1100" dirty="0" err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사용해야되요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그래서 등장한 개념이 </a:t>
            </a: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포인터</a:t>
            </a: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입니다</a:t>
            </a: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ko-KR" sz="1100" dirty="0">
              <a:solidFill>
                <a:prstClr val="black"/>
              </a:solidFill>
              <a:latin typeface="맑은 고딕" panose="0211000402020202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8F5646B-A26A-AA8D-F107-D06F34E37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4730" y="2235162"/>
            <a:ext cx="3391074" cy="147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259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95DF2-CEF4-B51E-7ADD-A970981DB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33A8C6-61D7-4239-52CD-5B3935D2C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j-cs"/>
              </a:rPr>
              <a:t>C/C++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CBDE4A-6542-73B8-6D83-2B0E704E9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메모리 생성과 수명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–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전역변수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지역변수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포인터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]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메모리의 경우 모두 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1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바이트 마다 고유의 </a:t>
            </a:r>
            <a:r>
              <a:rPr lang="ko-KR" altLang="en-US" sz="1100" dirty="0" err="1">
                <a:solidFill>
                  <a:prstClr val="black"/>
                </a:solidFill>
                <a:highlight>
                  <a:srgbClr val="FFFF00"/>
                </a:highlight>
                <a:latin typeface="맑은 고딕" panose="02110004020202020204"/>
                <a:ea typeface="맑은 고딕" panose="020B0503020000020004" pitchFamily="50" charset="-127"/>
              </a:rPr>
              <a:t>주소값</a:t>
            </a:r>
            <a:r>
              <a:rPr lang="ko-KR" altLang="en-US" sz="1100" dirty="0" err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을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 가집니다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결국 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HEAP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구역도 고유의 </a:t>
            </a:r>
            <a:r>
              <a:rPr lang="ko-KR" altLang="en-US" sz="1100" dirty="0" err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주소값은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 </a:t>
            </a:r>
            <a:r>
              <a:rPr lang="ko-KR" altLang="en-US" sz="1100" dirty="0" err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있는겁니다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ko-KR" sz="1100" dirty="0">
              <a:solidFill>
                <a:prstClr val="black"/>
              </a:solidFill>
              <a:latin typeface="맑은 고딕" panose="0211000402020202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아 그렇다면 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HEAP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에서 </a:t>
            </a:r>
            <a:r>
              <a:rPr lang="ko-KR" altLang="en-US" sz="1100" dirty="0" err="1">
                <a:solidFill>
                  <a:prstClr val="black"/>
                </a:solidFill>
                <a:highlight>
                  <a:srgbClr val="FFFF00"/>
                </a:highlight>
                <a:latin typeface="맑은 고딕" panose="02110004020202020204"/>
                <a:ea typeface="맑은 고딕" panose="020B0503020000020004" pitchFamily="50" charset="-127"/>
              </a:rPr>
              <a:t>할당받은</a:t>
            </a:r>
            <a:r>
              <a:rPr lang="ko-KR" altLang="en-US" sz="1100" dirty="0">
                <a:solidFill>
                  <a:prstClr val="black"/>
                </a:solidFill>
                <a:highlight>
                  <a:srgbClr val="FFFF00"/>
                </a:highlight>
                <a:latin typeface="맑은 고딕" panose="02110004020202020204"/>
                <a:ea typeface="맑은 고딕" panose="020B0503020000020004" pitchFamily="50" charset="-127"/>
              </a:rPr>
              <a:t> 메모리의 </a:t>
            </a:r>
            <a:r>
              <a:rPr lang="ko-KR" altLang="en-US" sz="1100" dirty="0" err="1">
                <a:solidFill>
                  <a:prstClr val="black"/>
                </a:solidFill>
                <a:highlight>
                  <a:srgbClr val="FFFF00"/>
                </a:highlight>
                <a:latin typeface="맑은 고딕" panose="02110004020202020204"/>
                <a:ea typeface="맑은 고딕" panose="020B0503020000020004" pitchFamily="50" charset="-127"/>
              </a:rPr>
              <a:t>주소값을</a:t>
            </a:r>
            <a:r>
              <a:rPr lang="ko-KR" altLang="en-US" sz="1100" dirty="0">
                <a:solidFill>
                  <a:prstClr val="black"/>
                </a:solidFill>
                <a:highlight>
                  <a:srgbClr val="FFFF00"/>
                </a:highlight>
                <a:latin typeface="맑은 고딕" panose="02110004020202020204"/>
                <a:ea typeface="맑은 고딕" panose="020B0503020000020004" pitchFamily="50" charset="-127"/>
              </a:rPr>
              <a:t> 저장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하여 사용하면 되겠군요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맞습니다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그래서 오른쪽 그림의 코드를 살펴보면 </a:t>
            </a:r>
            <a:r>
              <a:rPr lang="en-US" altLang="ko-KR" sz="1100" dirty="0">
                <a:solidFill>
                  <a:prstClr val="black"/>
                </a:solidFill>
                <a:highlight>
                  <a:srgbClr val="FFFF00"/>
                </a:highlight>
                <a:latin typeface="맑은 고딕" panose="02110004020202020204"/>
                <a:ea typeface="맑은 고딕" panose="020B0503020000020004" pitchFamily="50" charset="-127"/>
              </a:rPr>
              <a:t>int*(</a:t>
            </a:r>
            <a:r>
              <a:rPr lang="ko-KR" altLang="en-US" sz="1100" dirty="0">
                <a:solidFill>
                  <a:prstClr val="black"/>
                </a:solidFill>
                <a:highlight>
                  <a:srgbClr val="FFFF00"/>
                </a:highlight>
                <a:latin typeface="맑은 고딕" panose="02110004020202020204"/>
                <a:ea typeface="맑은 고딕" panose="020B0503020000020004" pitchFamily="50" charset="-127"/>
              </a:rPr>
              <a:t>정수형 포인터</a:t>
            </a:r>
            <a:r>
              <a:rPr lang="en-US" altLang="ko-KR" sz="1100" dirty="0">
                <a:solidFill>
                  <a:prstClr val="black"/>
                </a:solidFill>
                <a:highlight>
                  <a:srgbClr val="FFFF00"/>
                </a:highlight>
                <a:latin typeface="맑은 고딕" panose="02110004020202020204"/>
                <a:ea typeface="맑은 고딕" panose="020B0503020000020004" pitchFamily="50" charset="-127"/>
              </a:rPr>
              <a:t>)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 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변수를 선언하고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,</a:t>
            </a:r>
            <a:b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</a:b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즉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1100" dirty="0" err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주소값을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 저장할 메모리를 </a:t>
            </a:r>
            <a:r>
              <a:rPr lang="ko-KR" altLang="en-US" sz="1100" dirty="0" err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할당받고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,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 그 </a:t>
            </a:r>
            <a:r>
              <a:rPr lang="ko-KR" altLang="en-US" sz="1100" dirty="0" err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할당받은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 공간에 </a:t>
            </a:r>
            <a:r>
              <a:rPr lang="en-US" altLang="ko-KR" sz="1100" dirty="0">
                <a:solidFill>
                  <a:prstClr val="black"/>
                </a:solidFill>
                <a:highlight>
                  <a:srgbClr val="FFFF00"/>
                </a:highlight>
                <a:latin typeface="맑은 고딕" panose="02110004020202020204"/>
                <a:ea typeface="맑은 고딕" panose="020B0503020000020004" pitchFamily="50" charset="-127"/>
              </a:rPr>
              <a:t>new int(30)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으로 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HEAP 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구역에 </a:t>
            </a:r>
            <a:r>
              <a:rPr lang="ko-KR" altLang="en-US" sz="1100" dirty="0" err="1">
                <a:solidFill>
                  <a:prstClr val="black"/>
                </a:solidFill>
                <a:highlight>
                  <a:srgbClr val="FFFF00"/>
                </a:highlight>
                <a:latin typeface="맑은 고딕" panose="02110004020202020204"/>
                <a:ea typeface="맑은 고딕" panose="020B0503020000020004" pitchFamily="50" charset="-127"/>
              </a:rPr>
              <a:t>할당받은</a:t>
            </a:r>
            <a:r>
              <a:rPr lang="ko-KR" altLang="en-US" sz="1100" dirty="0">
                <a:solidFill>
                  <a:prstClr val="black"/>
                </a:solidFill>
                <a:highlight>
                  <a:srgbClr val="FFFF00"/>
                </a:highlight>
                <a:latin typeface="맑은 고딕" panose="02110004020202020204"/>
                <a:ea typeface="맑은 고딕" panose="020B0503020000020004" pitchFamily="50" charset="-127"/>
              </a:rPr>
              <a:t> 메모리의 주소를 저장</a:t>
            </a:r>
            <a:r>
              <a:rPr lang="ko-KR" altLang="en-US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하는 것입니다</a:t>
            </a:r>
            <a:r>
              <a:rPr lang="en-US" altLang="ko-KR" sz="11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정리하면</a:t>
            </a: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  <a:t>포인터는 주소를 저장하는 변수이다</a:t>
            </a:r>
            <a:r>
              <a:rPr lang="en-US" altLang="ko-K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  <a:br>
              <a:rPr lang="en-US" altLang="ko-K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</a:b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+</a:t>
            </a:r>
            <a:br>
              <a:rPr lang="en-US" altLang="ko-K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</a:b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  <a:t>포인터에 동적으로 </a:t>
            </a:r>
            <a:r>
              <a:rPr lang="ko-KR" altLang="en-US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  <a:t>할당받은</a:t>
            </a: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  <a:t> 변수의 주소를 저장하여 </a:t>
            </a:r>
            <a:r>
              <a:rPr lang="en-US" altLang="ko-K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  <a:t>HEAP</a:t>
            </a: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  <a:t>구역의 메모리 공간을 사용한다</a:t>
            </a:r>
            <a:r>
              <a:rPr lang="en-US" altLang="ko-K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10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100" dirty="0">
                <a:latin typeface="맑은 고딕" panose="02110004020202020204"/>
                <a:ea typeface="맑은 고딕" panose="020B0503020000020004" pitchFamily="50" charset="-127"/>
              </a:rPr>
              <a:t>그럼 </a:t>
            </a:r>
            <a:r>
              <a:rPr lang="en-US" altLang="ko-KR" sz="1100" dirty="0">
                <a:latin typeface="맑은 고딕" panose="02110004020202020204"/>
                <a:ea typeface="맑은 고딕" panose="020B0503020000020004" pitchFamily="50" charset="-127"/>
              </a:rPr>
              <a:t>HEAP</a:t>
            </a:r>
            <a:r>
              <a:rPr lang="ko-KR" altLang="en-US" sz="1100" dirty="0">
                <a:latin typeface="맑은 고딕" panose="02110004020202020204"/>
                <a:ea typeface="맑은 고딕" panose="020B0503020000020004" pitchFamily="50" charset="-127"/>
              </a:rPr>
              <a:t>에 </a:t>
            </a:r>
            <a:r>
              <a:rPr lang="ko-KR" altLang="en-US" sz="1100" dirty="0" err="1">
                <a:latin typeface="맑은 고딕" panose="02110004020202020204"/>
                <a:ea typeface="맑은 고딕" panose="020B0503020000020004" pitchFamily="50" charset="-127"/>
              </a:rPr>
              <a:t>할당받은</a:t>
            </a:r>
            <a:r>
              <a:rPr lang="ko-KR" altLang="en-US" sz="1100" dirty="0">
                <a:latin typeface="맑은 고딕" panose="02110004020202020204"/>
                <a:ea typeface="맑은 고딕" panose="020B0503020000020004" pitchFamily="50" charset="-127"/>
              </a:rPr>
              <a:t> 메모리의 수명은 어떻게 </a:t>
            </a:r>
            <a:r>
              <a:rPr lang="ko-KR" altLang="en-US" sz="1100" dirty="0" err="1">
                <a:latin typeface="맑은 고딕" panose="02110004020202020204"/>
                <a:ea typeface="맑은 고딕" panose="020B0503020000020004" pitchFamily="50" charset="-127"/>
              </a:rPr>
              <a:t>되요</a:t>
            </a:r>
            <a:r>
              <a:rPr lang="en-US" altLang="ko-KR" sz="1100" dirty="0">
                <a:latin typeface="맑은 고딕" panose="02110004020202020204"/>
                <a:ea typeface="맑은 고딕" panose="020B0503020000020004" pitchFamily="50" charset="-127"/>
              </a:rPr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  <a:t>HEAP</a:t>
            </a: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  <a:t>에 </a:t>
            </a:r>
            <a:r>
              <a:rPr lang="ko-KR" altLang="en-US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  <a:t>할당받은</a:t>
            </a: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  <a:t> 메모리의 공간의 경우 우리가 </a:t>
            </a: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FFFF00"/>
                </a:highlight>
                <a:latin typeface="맑은 고딕" panose="02110004020202020204"/>
                <a:ea typeface="맑은 고딕" panose="020B0503020000020004" pitchFamily="50" charset="-127"/>
              </a:rPr>
              <a:t>직접 </a:t>
            </a:r>
            <a:r>
              <a:rPr lang="en-US" altLang="ko-KR" sz="1100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FFFF00"/>
                </a:highlight>
                <a:latin typeface="맑은 고딕" panose="02110004020202020204"/>
                <a:ea typeface="맑은 고딕" panose="020B0503020000020004" pitchFamily="50" charset="-127"/>
              </a:rPr>
              <a:t>new</a:t>
            </a: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FFFF00"/>
                </a:highlight>
                <a:latin typeface="맑은 고딕" panose="02110004020202020204"/>
                <a:ea typeface="맑은 고딕" panose="020B0503020000020004" pitchFamily="50" charset="-127"/>
              </a:rPr>
              <a:t>로 </a:t>
            </a:r>
            <a:r>
              <a:rPr lang="ko-KR" altLang="en-US" sz="1100" dirty="0" err="1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FFFF00"/>
                </a:highlight>
                <a:latin typeface="맑은 고딕" panose="02110004020202020204"/>
                <a:ea typeface="맑은 고딕" panose="020B0503020000020004" pitchFamily="50" charset="-127"/>
              </a:rPr>
              <a:t>할당</a:t>
            </a:r>
            <a:r>
              <a:rPr lang="ko-KR" altLang="en-US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  <a:t>받은</a:t>
            </a: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  <a:t> 만큼 우리가 </a:t>
            </a: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FFFF00"/>
                </a:highlight>
                <a:latin typeface="맑은 고딕" panose="02110004020202020204"/>
                <a:ea typeface="맑은 고딕" panose="020B0503020000020004" pitchFamily="50" charset="-127"/>
              </a:rPr>
              <a:t>책임지고 해제</a:t>
            </a: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  <a:t>해주어야 합니다</a:t>
            </a:r>
            <a:r>
              <a:rPr lang="en-US" altLang="ko-K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  <a:br>
              <a:rPr lang="en-US" altLang="ko-K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</a:b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  <a:t>결국 메모리 수명은 개발자에게 달려있습니다</a:t>
            </a:r>
            <a:r>
              <a:rPr lang="en-US" altLang="ko-K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10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우리가 직접 관리해주어야 한다는 점이 </a:t>
            </a:r>
            <a:r>
              <a:rPr lang="en-US" altLang="ko-KR" sz="1100" dirty="0">
                <a:latin typeface="맑은 고딕" panose="02110004020202020204"/>
                <a:ea typeface="맑은 고딕" panose="020B0503020000020004" pitchFamily="50" charset="-127"/>
              </a:rPr>
              <a:t>C/C++</a:t>
            </a:r>
            <a:r>
              <a:rPr lang="ko-KR" altLang="en-US" sz="1100" dirty="0">
                <a:latin typeface="맑은 고딕" panose="02110004020202020204"/>
                <a:ea typeface="맑은 고딕" panose="020B0503020000020004" pitchFamily="50" charset="-127"/>
              </a:rPr>
              <a:t>이 어려운 이유입니다</a:t>
            </a:r>
            <a:r>
              <a:rPr lang="en-US" altLang="ko-KR" sz="1100" dirty="0">
                <a:latin typeface="맑은 고딕" panose="02110004020202020204"/>
                <a:ea typeface="맑은 고딕" panose="020B0503020000020004" pitchFamily="50" charset="-127"/>
              </a:rPr>
              <a:t>. </a:t>
            </a:r>
            <a:endParaRPr kumimoji="0" lang="en-US" altLang="ko-KR" sz="11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0A2894C-FF6F-C263-9352-872CD82AA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663" y="1955724"/>
            <a:ext cx="3391074" cy="147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669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DD75D-1FDD-EC9D-86AE-7AF98548D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C/C++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D02FA6-2D31-E706-1C90-DBF8F8ED8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[</a:t>
            </a:r>
            <a:r>
              <a:rPr lang="ko-KR" altLang="en-US" sz="1800" b="1" dirty="0"/>
              <a:t>데이터는 모두 </a:t>
            </a:r>
            <a:r>
              <a:rPr lang="en-US" altLang="ko-KR" sz="1800" b="1" dirty="0"/>
              <a:t>0</a:t>
            </a:r>
            <a:r>
              <a:rPr lang="ko-KR" altLang="en-US" sz="1800" b="1" dirty="0"/>
              <a:t>과 </a:t>
            </a:r>
            <a:r>
              <a:rPr lang="en-US" altLang="ko-KR" sz="1800" b="1" dirty="0"/>
              <a:t>1</a:t>
            </a:r>
            <a:r>
              <a:rPr lang="ko-KR" altLang="en-US" sz="1800" b="1" dirty="0"/>
              <a:t>이다</a:t>
            </a:r>
            <a:r>
              <a:rPr lang="en-US" altLang="ko-KR" sz="1800" b="1" dirty="0"/>
              <a:t>]</a:t>
            </a:r>
          </a:p>
          <a:p>
            <a:pPr marL="0" indent="0">
              <a:buNone/>
            </a:pPr>
            <a:r>
              <a:rPr lang="ko-KR" altLang="en-US" sz="1100" dirty="0"/>
              <a:t>이번에는 변수</a:t>
            </a:r>
            <a:r>
              <a:rPr lang="en-US" altLang="ko-KR" sz="1100" dirty="0"/>
              <a:t>, </a:t>
            </a:r>
            <a:r>
              <a:rPr lang="ko-KR" altLang="en-US" sz="1100" dirty="0"/>
              <a:t>즉 우리가 </a:t>
            </a:r>
            <a:r>
              <a:rPr lang="ko-KR" altLang="en-US" sz="1100" dirty="0" err="1"/>
              <a:t>할당받아</a:t>
            </a:r>
            <a:r>
              <a:rPr lang="ko-KR" altLang="en-US" sz="1100" dirty="0"/>
              <a:t> 사용하는 메모리 공간에 무엇이 저장되는지 살펴봅시다</a:t>
            </a:r>
            <a:r>
              <a:rPr lang="en-US" altLang="ko-KR" sz="1100" dirty="0"/>
              <a:t>.</a:t>
            </a:r>
          </a:p>
          <a:p>
            <a:pPr marL="0" indent="0">
              <a:buNone/>
            </a:pPr>
            <a:r>
              <a:rPr lang="ko-KR" altLang="en-US" sz="1100" dirty="0"/>
              <a:t>메모리는 전자 회로의 조합으로 내부적으로는 모두 </a:t>
            </a:r>
            <a:r>
              <a:rPr lang="en-US" altLang="ko-KR" sz="1100" dirty="0"/>
              <a:t>0</a:t>
            </a:r>
            <a:r>
              <a:rPr lang="ko-KR" altLang="en-US" sz="1100" dirty="0"/>
              <a:t>과</a:t>
            </a:r>
            <a:r>
              <a:rPr lang="en-US" altLang="ko-KR" sz="1100" dirty="0"/>
              <a:t> 1</a:t>
            </a:r>
            <a:r>
              <a:rPr lang="ko-KR" altLang="en-US" sz="1100" dirty="0"/>
              <a:t>의 </a:t>
            </a:r>
            <a:r>
              <a:rPr lang="en-US" altLang="ko-KR" sz="1100" dirty="0"/>
              <a:t>‘</a:t>
            </a:r>
            <a:r>
              <a:rPr lang="ko-KR" altLang="en-US" sz="1100" dirty="0"/>
              <a:t>비트</a:t>
            </a:r>
            <a:r>
              <a:rPr lang="en-US" altLang="ko-KR" sz="1100" dirty="0"/>
              <a:t>’</a:t>
            </a:r>
            <a:r>
              <a:rPr lang="ko-KR" altLang="en-US" sz="1100" dirty="0"/>
              <a:t>만 저장합니다</a:t>
            </a:r>
            <a:r>
              <a:rPr lang="en-US" altLang="ko-KR" sz="1100" dirty="0"/>
              <a:t>. </a:t>
            </a:r>
            <a:br>
              <a:rPr lang="en-US" altLang="ko-KR" sz="1100" dirty="0"/>
            </a:br>
            <a:r>
              <a:rPr lang="ko-KR" altLang="en-US" sz="1100" dirty="0"/>
              <a:t>이 말은 곧 모든 데이터 정보는 이진수로 </a:t>
            </a:r>
            <a:r>
              <a:rPr lang="ko-KR" altLang="en-US" sz="1100" dirty="0" err="1"/>
              <a:t>저장되어있다는</a:t>
            </a:r>
            <a:r>
              <a:rPr lang="ko-KR" altLang="en-US" sz="1100" dirty="0"/>
              <a:t> 말과 같습니다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r>
              <a:rPr lang="ko-KR" altLang="en-US" sz="1100" dirty="0"/>
              <a:t>그럼 각 이진수가 문자를 나타내는지 숫자를 나타내는지 어떻게 알아요</a:t>
            </a:r>
            <a:r>
              <a:rPr lang="en-US" altLang="ko-KR" sz="1100" dirty="0"/>
              <a:t>?</a:t>
            </a:r>
          </a:p>
          <a:p>
            <a:pPr marL="0" indent="0">
              <a:buNone/>
            </a:pP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메모리 단계에서는 </a:t>
            </a:r>
            <a:r>
              <a:rPr lang="ko-KR" altLang="en-US" sz="11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모르는게</a:t>
            </a: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맞습니다</a:t>
            </a:r>
            <a:r>
              <a:rPr lang="en-US" altLang="ko-KR" sz="11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 </a:t>
            </a: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그러나 우리가 코딩하는 프로그램 단계에서는 자료형을 통해 해당 이진수가 어떤 의미를 갖는지 해석합니다</a:t>
            </a:r>
            <a:r>
              <a:rPr lang="en-US" altLang="ko-KR" sz="11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 </a:t>
            </a:r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r>
              <a:rPr lang="ko-KR" altLang="en-US" sz="1100" dirty="0"/>
              <a:t>그렇다면 같은 데이터를 다른 자료형으로 해석해서 이용이 가능한가요</a:t>
            </a:r>
            <a:r>
              <a:rPr lang="en-US" altLang="ko-KR" sz="1100" dirty="0"/>
              <a:t>?</a:t>
            </a:r>
          </a:p>
          <a:p>
            <a:pPr marL="0" indent="0">
              <a:buNone/>
            </a:pP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네</a:t>
            </a:r>
            <a:r>
              <a:rPr lang="en-US" altLang="ko-KR" sz="11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 </a:t>
            </a: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가능합니다</a:t>
            </a:r>
            <a:r>
              <a:rPr lang="en-US" altLang="ko-KR" sz="11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 </a:t>
            </a:r>
            <a:r>
              <a:rPr lang="ko-KR" altLang="en-US" sz="1100" dirty="0"/>
              <a:t>그 예시로 다음의 그림을 참고하시면 될 거 같습니다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r>
              <a:rPr lang="en-US" altLang="ko-KR" sz="1100" dirty="0"/>
              <a:t>01000001</a:t>
            </a:r>
            <a:r>
              <a:rPr lang="ko-KR" altLang="en-US" sz="1100" dirty="0"/>
              <a:t>이라는 이진수를 </a:t>
            </a:r>
            <a:r>
              <a:rPr lang="en-US" altLang="ko-KR" sz="1100" dirty="0"/>
              <a:t>char</a:t>
            </a:r>
            <a:r>
              <a:rPr lang="ko-KR" altLang="en-US" sz="1100" dirty="0"/>
              <a:t>형으로는 </a:t>
            </a:r>
            <a:r>
              <a:rPr lang="en-US" altLang="ko-KR" sz="1100" dirty="0"/>
              <a:t>‘A’, int</a:t>
            </a:r>
            <a:r>
              <a:rPr lang="ko-KR" altLang="en-US" sz="1100" dirty="0"/>
              <a:t>형으로는 </a:t>
            </a:r>
            <a:r>
              <a:rPr lang="en-US" altLang="ko-KR" sz="1100" dirty="0"/>
              <a:t>65</a:t>
            </a:r>
            <a:r>
              <a:rPr lang="ko-KR" altLang="en-US" sz="1100" dirty="0"/>
              <a:t>라는 값으로 해석할 수 있습니다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r>
              <a:rPr lang="ko-KR" altLang="en-US" sz="1100" dirty="0"/>
              <a:t>앞서 말했듯이 자료형은 </a:t>
            </a:r>
            <a:r>
              <a:rPr lang="ko-KR" altLang="en-US" sz="1100" dirty="0">
                <a:highlight>
                  <a:srgbClr val="FFFF00"/>
                </a:highlight>
              </a:rPr>
              <a:t>메모리의 크기</a:t>
            </a:r>
            <a:r>
              <a:rPr lang="ko-KR" altLang="en-US" sz="1100" dirty="0"/>
              <a:t>와 </a:t>
            </a:r>
            <a:r>
              <a:rPr lang="ko-KR" altLang="en-US" sz="1100" dirty="0">
                <a:highlight>
                  <a:srgbClr val="FFFF00"/>
                </a:highlight>
              </a:rPr>
              <a:t>데이터의 해석 방식</a:t>
            </a:r>
            <a:r>
              <a:rPr lang="ko-KR" altLang="en-US" sz="1100" dirty="0"/>
              <a:t>을 결정하게 됩니다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r>
              <a:rPr lang="ko-KR" altLang="en-US" sz="1100" dirty="0"/>
              <a:t>조금 더 나아가 </a:t>
            </a:r>
            <a:r>
              <a:rPr lang="ko-KR" altLang="en-US" sz="1100" dirty="0">
                <a:highlight>
                  <a:srgbClr val="FFFF00"/>
                </a:highlight>
              </a:rPr>
              <a:t>연산 방식</a:t>
            </a:r>
            <a:r>
              <a:rPr lang="ko-KR" altLang="en-US" sz="1100" dirty="0"/>
              <a:t>도 결정합니다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endParaRPr lang="en-US" altLang="ko-KR" sz="11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266B4FE-9F47-DE46-05A9-E314D4C7E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012" y="4001294"/>
            <a:ext cx="1162110" cy="69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151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F5292-E222-A0AD-5DBC-1AE53FDCD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B87143-211B-E08B-0E54-E9CD2763D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C/C++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0BEC22-C803-C74D-3C51-6E54FDC86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[</a:t>
            </a:r>
            <a:r>
              <a:rPr lang="ko-KR" altLang="en-US" sz="1800" b="1" dirty="0"/>
              <a:t>자료형과 메모리 크기</a:t>
            </a:r>
            <a:r>
              <a:rPr lang="en-US" altLang="ko-KR" sz="1800" b="1" dirty="0"/>
              <a:t>]</a:t>
            </a:r>
          </a:p>
          <a:p>
            <a:pPr marL="0" indent="0">
              <a:buNone/>
            </a:pPr>
            <a:r>
              <a:rPr lang="ko-KR" altLang="en-US" sz="1100" dirty="0"/>
              <a:t>이번에는 자료형에 대해 조금만 더 파악해봅시다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r>
              <a:rPr lang="ko-KR" altLang="en-US" sz="1100" dirty="0"/>
              <a:t>우리는 지금까지 자료형이 데이터의 해석방식을 결정한다고 배웠고</a:t>
            </a:r>
            <a:r>
              <a:rPr lang="en-US" altLang="ko-KR" sz="1100" dirty="0"/>
              <a:t>, int</a:t>
            </a:r>
            <a:r>
              <a:rPr lang="ko-KR" altLang="en-US" sz="1100" dirty="0"/>
              <a:t> </a:t>
            </a:r>
            <a:r>
              <a:rPr lang="en-US" altLang="ko-KR" sz="1100" dirty="0"/>
              <a:t>a{ 10 };</a:t>
            </a:r>
            <a:r>
              <a:rPr lang="ko-KR" altLang="en-US" sz="1100" dirty="0"/>
              <a:t>이 어떤 의미인지 번역하는 방법도 배웠습니다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ko-KR" altLang="en-US" sz="1100" dirty="0"/>
              <a:t>또 메모리 구역별로 어떤 특징이 있는지</a:t>
            </a:r>
            <a:r>
              <a:rPr lang="en-US" altLang="ko-KR" sz="1100" dirty="0"/>
              <a:t>, </a:t>
            </a:r>
            <a:r>
              <a:rPr lang="ko-KR" altLang="en-US" sz="1100" dirty="0"/>
              <a:t>그중 크기에 제한이 있다는 구역도 알게 되었죠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r>
              <a:rPr lang="ko-KR" altLang="en-US" sz="1100" dirty="0"/>
              <a:t>그런데 한가지 빠진 거 같지 않나요</a:t>
            </a:r>
            <a:r>
              <a:rPr lang="en-US" altLang="ko-KR" sz="1100" dirty="0"/>
              <a:t>? </a:t>
            </a:r>
          </a:p>
          <a:p>
            <a:pPr marL="0" indent="0">
              <a:buNone/>
            </a:pPr>
            <a:r>
              <a:rPr lang="ko-KR" altLang="en-US" sz="1100" dirty="0"/>
              <a:t>우리는 여태껏 메모리 공간 할당</a:t>
            </a:r>
            <a:r>
              <a:rPr lang="en-US" altLang="ko-KR" sz="1100" dirty="0"/>
              <a:t>~, </a:t>
            </a:r>
            <a:r>
              <a:rPr lang="ko-KR" altLang="en-US" sz="1100" dirty="0"/>
              <a:t>메모리</a:t>
            </a:r>
            <a:r>
              <a:rPr lang="en-US" altLang="ko-KR" sz="1100" dirty="0"/>
              <a:t>, </a:t>
            </a:r>
            <a:r>
              <a:rPr lang="ko-KR" altLang="en-US" sz="1100" dirty="0"/>
              <a:t>이진수 등 여러 가질 말했지만 이 공간의 크기에 대해서는 이야기 한적이 없습니다</a:t>
            </a:r>
            <a:r>
              <a:rPr lang="en-US" altLang="ko-KR" sz="1100" dirty="0"/>
              <a:t>. </a:t>
            </a:r>
            <a:br>
              <a:rPr lang="en-US" altLang="ko-KR" sz="1100" dirty="0"/>
            </a:br>
            <a:r>
              <a:rPr lang="ko-KR" altLang="en-US" sz="1100" dirty="0"/>
              <a:t>이 부분을 다뤄봅시다 </a:t>
            </a:r>
            <a:r>
              <a:rPr lang="en-US" altLang="ko-KR" sz="1100" dirty="0"/>
              <a:t>.</a:t>
            </a:r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r>
              <a:rPr lang="ko-KR" altLang="en-US" sz="1100" dirty="0"/>
              <a:t>우선 자료형이 메모리 공간에 담긴 데이터의 해석방식을 알려주기도 하지만</a:t>
            </a:r>
            <a:r>
              <a:rPr lang="en-US" altLang="ko-KR" sz="1100" dirty="0"/>
              <a:t> </a:t>
            </a:r>
            <a:r>
              <a:rPr lang="ko-KR" altLang="en-US" sz="1100" dirty="0"/>
              <a:t>또 알려주는 게 하나 더 있습니다</a:t>
            </a:r>
            <a:r>
              <a:rPr lang="en-US" altLang="ko-KR" sz="1100" dirty="0"/>
              <a:t>.. </a:t>
            </a:r>
          </a:p>
          <a:p>
            <a:pPr marL="0" indent="0">
              <a:buNone/>
            </a:pPr>
            <a:r>
              <a:rPr lang="ko-KR" altLang="en-US" sz="1100" dirty="0"/>
              <a:t>바로 </a:t>
            </a:r>
            <a:r>
              <a:rPr lang="ko-KR" altLang="en-US" sz="1100" dirty="0">
                <a:highlight>
                  <a:srgbClr val="FFFF00"/>
                </a:highlight>
              </a:rPr>
              <a:t>메모리 공간의 크기</a:t>
            </a:r>
            <a:r>
              <a:rPr lang="ko-KR" altLang="en-US" sz="1100" dirty="0"/>
              <a:t>입니다</a:t>
            </a:r>
            <a:r>
              <a:rPr lang="en-US" altLang="ko-KR" sz="1100" dirty="0"/>
              <a:t>.  </a:t>
            </a:r>
            <a:r>
              <a:rPr lang="ko-KR" altLang="en-US" sz="1100" dirty="0"/>
              <a:t>컴파일 하는 과정에서 코드는 </a:t>
            </a:r>
            <a:r>
              <a:rPr lang="en-US" altLang="ko-KR" sz="1100" dirty="0"/>
              <a:t>OS</a:t>
            </a:r>
            <a:r>
              <a:rPr lang="ko-KR" altLang="en-US" sz="1100" dirty="0"/>
              <a:t>에게 이렇게 요청하게 됩니다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endParaRPr lang="en-US" altLang="ko-KR" sz="1100" dirty="0"/>
          </a:p>
          <a:p>
            <a:pPr marL="0" indent="0">
              <a:buNone/>
            </a:pPr>
            <a:r>
              <a:rPr lang="ko-KR" altLang="en-US" sz="1100" dirty="0"/>
              <a:t>우리 이 자료형으로 쓸 변수명의 메모리 공간이 필요해</a:t>
            </a:r>
            <a:r>
              <a:rPr lang="en-US" altLang="ko-KR" sz="1100" dirty="0"/>
              <a:t>. </a:t>
            </a:r>
            <a:br>
              <a:rPr lang="en-US" altLang="ko-KR" sz="1100" dirty="0"/>
            </a:br>
            <a:r>
              <a:rPr lang="ko-KR" altLang="en-US" sz="1100" dirty="0"/>
              <a:t> </a:t>
            </a:r>
            <a:endParaRPr lang="en-US" altLang="ko-KR" sz="1100" dirty="0"/>
          </a:p>
          <a:p>
            <a:pPr marL="0" indent="0">
              <a:buNone/>
            </a:pPr>
            <a:r>
              <a:rPr lang="ko-KR" altLang="en-US" sz="1100" dirty="0"/>
              <a:t>그럼 </a:t>
            </a:r>
            <a:r>
              <a:rPr lang="en-US" altLang="ko-KR" sz="1100" dirty="0"/>
              <a:t>OS</a:t>
            </a:r>
            <a:r>
              <a:rPr lang="ko-KR" altLang="en-US" sz="1100" dirty="0"/>
              <a:t>는 자료형에 맞는 크기의 메모리 공간을 할당해주죠</a:t>
            </a:r>
            <a:r>
              <a:rPr lang="en-US" altLang="ko-KR" sz="1100" dirty="0"/>
              <a:t>.</a:t>
            </a:r>
            <a:r>
              <a:rPr lang="ko-KR" altLang="en-US" sz="1100" dirty="0"/>
              <a:t>자료형마다 </a:t>
            </a:r>
            <a:r>
              <a:rPr lang="ko-KR" altLang="en-US" sz="1100" dirty="0" err="1"/>
              <a:t>할당받는</a:t>
            </a:r>
            <a:r>
              <a:rPr lang="ko-KR" altLang="en-US" sz="1100" dirty="0"/>
              <a:t> 메모리의 크기는 시스템</a:t>
            </a:r>
            <a:r>
              <a:rPr lang="en-US" altLang="ko-KR" sz="1100" dirty="0"/>
              <a:t>/</a:t>
            </a:r>
            <a:r>
              <a:rPr lang="ko-KR" altLang="en-US" sz="1100" dirty="0"/>
              <a:t>컴파일러마다 다르지만 우리가 작업할 환경에서는 </a:t>
            </a:r>
            <a:endParaRPr lang="en-US" altLang="ko-KR" sz="1100" dirty="0"/>
          </a:p>
          <a:p>
            <a:pPr marL="0" indent="0">
              <a:buNone/>
            </a:pPr>
            <a:r>
              <a:rPr lang="ko-KR" altLang="en-US" sz="1100" dirty="0"/>
              <a:t>다음과 같습니다</a:t>
            </a:r>
            <a:r>
              <a:rPr lang="en-US" altLang="ko-KR" sz="1100" dirty="0"/>
              <a:t>. </a:t>
            </a:r>
            <a:r>
              <a:rPr lang="ko-KR" altLang="en-US" sz="1100" dirty="0"/>
              <a:t>기본</a:t>
            </a:r>
            <a:r>
              <a:rPr lang="en-US" altLang="ko-KR" sz="1100" dirty="0"/>
              <a:t> </a:t>
            </a:r>
            <a:r>
              <a:rPr lang="ko-KR" altLang="en-US" sz="1100" dirty="0"/>
              <a:t>자료형만 알려드리겠습니다</a:t>
            </a:r>
            <a:r>
              <a:rPr lang="en-US" altLang="ko-KR" sz="1100" dirty="0"/>
              <a:t>. ( </a:t>
            </a:r>
            <a:r>
              <a:rPr lang="ko-KR" altLang="en-US" sz="1100" dirty="0"/>
              <a:t>작업환경 기준 </a:t>
            </a:r>
            <a:r>
              <a:rPr lang="en-US" altLang="ko-KR" sz="1100" dirty="0"/>
              <a:t>: x64,</a:t>
            </a:r>
            <a:r>
              <a:rPr lang="ko-KR" altLang="en-US" sz="1100" dirty="0"/>
              <a:t> </a:t>
            </a:r>
            <a:r>
              <a:rPr lang="en-US" altLang="ko-KR" sz="1100" dirty="0"/>
              <a:t>Windows, Visual Studio, C++)</a:t>
            </a:r>
          </a:p>
          <a:p>
            <a:pPr marL="0" indent="0">
              <a:buNone/>
            </a:pPr>
            <a:r>
              <a:rPr lang="en-US" altLang="ko-KR" sz="1100" b="1" dirty="0"/>
              <a:t>char : 1 </a:t>
            </a:r>
            <a:r>
              <a:rPr lang="ko-KR" altLang="en-US" sz="1100" b="1" dirty="0"/>
              <a:t>바이트 </a:t>
            </a:r>
            <a:r>
              <a:rPr lang="en-US" altLang="ko-KR" sz="1100" b="1" dirty="0"/>
              <a:t>/ int : 4</a:t>
            </a:r>
            <a:r>
              <a:rPr lang="ko-KR" altLang="en-US" sz="1100" b="1" dirty="0"/>
              <a:t> 바이트 </a:t>
            </a:r>
            <a:r>
              <a:rPr lang="en-US" altLang="ko-KR" sz="1100" b="1" dirty="0"/>
              <a:t>/ float : 4 </a:t>
            </a:r>
            <a:r>
              <a:rPr lang="ko-KR" altLang="en-US" sz="1100" b="1" dirty="0"/>
              <a:t>바이트 </a:t>
            </a:r>
            <a:r>
              <a:rPr lang="en-US" altLang="ko-KR" sz="1100" b="1" dirty="0"/>
              <a:t>/ double : 8 </a:t>
            </a:r>
            <a:r>
              <a:rPr lang="ko-KR" altLang="en-US" sz="1100" b="1" dirty="0"/>
              <a:t>바이트</a:t>
            </a:r>
            <a:endParaRPr lang="en-US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1998841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ACE8F-2912-F48D-F23C-EC806CDFD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FE7465-0125-C277-209C-F41E8852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C/C++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7FE219-AFBF-27C0-AD46-BBEF517DF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[</a:t>
            </a:r>
            <a:r>
              <a:rPr lang="ko-KR" altLang="en-US" sz="1800" b="1" dirty="0"/>
              <a:t>자료형과 메모리 크기</a:t>
            </a:r>
            <a:r>
              <a:rPr lang="en-US" altLang="ko-KR" sz="1800" b="1" dirty="0"/>
              <a:t>]</a:t>
            </a:r>
          </a:p>
          <a:p>
            <a:pPr marL="0" indent="0">
              <a:buNone/>
            </a:pPr>
            <a:r>
              <a:rPr lang="ko-KR" altLang="en-US" sz="1100" dirty="0"/>
              <a:t>기본적으로 메모리 공간이 클수록 표현되는 정보는 더 정확하고 자세해지고 범위도 커집니다</a:t>
            </a:r>
            <a:r>
              <a:rPr lang="en-US" altLang="ko-KR" sz="1100" dirty="0"/>
              <a:t>. </a:t>
            </a:r>
            <a:br>
              <a:rPr lang="en-US" altLang="ko-KR" sz="1100" dirty="0"/>
            </a:br>
            <a:r>
              <a:rPr lang="ko-KR" altLang="en-US" sz="1100" dirty="0"/>
              <a:t>그 예시로 문자형</a:t>
            </a:r>
            <a:r>
              <a:rPr lang="en-US" altLang="ko-KR" sz="1100" dirty="0"/>
              <a:t>(char)</a:t>
            </a:r>
            <a:r>
              <a:rPr lang="ko-KR" altLang="en-US" sz="1100" dirty="0"/>
              <a:t>은 영어의 경우 한 글자에 </a:t>
            </a:r>
            <a:r>
              <a:rPr lang="en-US" altLang="ko-KR" sz="1100" dirty="0"/>
              <a:t>1 </a:t>
            </a:r>
            <a:r>
              <a:rPr lang="ko-KR" altLang="en-US" sz="1100" dirty="0"/>
              <a:t>바이트면 충분하지만</a:t>
            </a:r>
            <a:r>
              <a:rPr lang="en-US" altLang="ko-KR" sz="1100" dirty="0"/>
              <a:t>, </a:t>
            </a:r>
            <a:r>
              <a:rPr lang="ko-KR" altLang="en-US" sz="1100" dirty="0"/>
              <a:t>한글의 경우 수많은 자음모음 조합으로 인해 </a:t>
            </a:r>
            <a:r>
              <a:rPr lang="en-US" altLang="ko-KR" sz="1100" dirty="0"/>
              <a:t>2</a:t>
            </a:r>
            <a:r>
              <a:rPr lang="ko-KR" altLang="en-US" sz="1100" dirty="0"/>
              <a:t>바이트를 소모하게 됩니다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r>
              <a:rPr lang="ko-KR" altLang="en-US" sz="1100" dirty="0"/>
              <a:t>문자는 그래도 개수가 정해져 </a:t>
            </a:r>
            <a:r>
              <a:rPr lang="ko-KR" altLang="en-US" sz="1100" dirty="0" err="1"/>
              <a:t>있는것</a:t>
            </a:r>
            <a:r>
              <a:rPr lang="ko-KR" altLang="en-US" sz="1100" dirty="0"/>
              <a:t> 아닌가요</a:t>
            </a:r>
            <a:r>
              <a:rPr lang="en-US" altLang="ko-KR" sz="1100" dirty="0"/>
              <a:t>? </a:t>
            </a:r>
          </a:p>
          <a:p>
            <a:pPr marL="0" indent="0">
              <a:buNone/>
            </a:pP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맞습니다</a:t>
            </a:r>
            <a:r>
              <a:rPr lang="en-US" altLang="ko-KR" sz="11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 </a:t>
            </a:r>
            <a:r>
              <a:rPr lang="ko-KR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그래서 값이 무한할 수 있는 숫자의 경우 바이트 제한으로 인해 표현 가능한 범위가 존재합니다</a:t>
            </a:r>
            <a:r>
              <a:rPr lang="en-US" altLang="ko-KR" sz="11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 </a:t>
            </a:r>
          </a:p>
          <a:p>
            <a:pPr marL="0" indent="0">
              <a:buNone/>
            </a:pPr>
            <a:endParaRPr lang="en-US" altLang="ko-KR" sz="11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ko-KR" altLang="en-US" sz="1100" dirty="0"/>
              <a:t>예시로</a:t>
            </a:r>
            <a:endParaRPr lang="en-US" altLang="ko-KR" sz="1100" dirty="0"/>
          </a:p>
          <a:p>
            <a:pPr marL="0" indent="0">
              <a:buNone/>
            </a:pPr>
            <a:r>
              <a:rPr lang="en-US" altLang="ko-KR" sz="1100" b="1" dirty="0"/>
              <a:t>short</a:t>
            </a:r>
            <a:r>
              <a:rPr lang="ko-KR" altLang="en-US" sz="1100" b="1" dirty="0"/>
              <a:t>의 경우 </a:t>
            </a:r>
            <a:r>
              <a:rPr lang="en-US" altLang="ko-KR" sz="1100" b="1" dirty="0"/>
              <a:t>2</a:t>
            </a:r>
            <a:r>
              <a:rPr lang="ko-KR" altLang="en-US" sz="1100" b="1" dirty="0"/>
              <a:t>바이트</a:t>
            </a:r>
            <a:r>
              <a:rPr lang="en-US" altLang="ko-KR" sz="1100" b="1" dirty="0"/>
              <a:t>(16</a:t>
            </a:r>
            <a:r>
              <a:rPr lang="ko-KR" altLang="en-US" sz="1100" b="1" dirty="0"/>
              <a:t>비트</a:t>
            </a:r>
            <a:r>
              <a:rPr lang="en-US" altLang="ko-KR" sz="1100" b="1" dirty="0"/>
              <a:t>)</a:t>
            </a:r>
            <a:r>
              <a:rPr lang="ko-KR" altLang="en-US" sz="1100" b="1" dirty="0"/>
              <a:t>로</a:t>
            </a:r>
            <a:r>
              <a:rPr lang="en-US" altLang="ko-KR" sz="1100" b="1" dirty="0"/>
              <a:t>,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2¹⁶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= 65,526</a:t>
            </a:r>
            <a:r>
              <a:rPr lang="ko-KR" altLang="en-US" sz="1100" b="1" dirty="0"/>
              <a:t>개의 숫자를 표현할 수 있습니다</a:t>
            </a:r>
            <a:r>
              <a:rPr lang="en-US" altLang="ko-KR" sz="1100" b="1" dirty="0"/>
              <a:t>. -&gt; -32,768 ~ 32,767</a:t>
            </a:r>
          </a:p>
          <a:p>
            <a:pPr marL="0" indent="0">
              <a:buNone/>
            </a:pPr>
            <a:r>
              <a:rPr lang="en-US" altLang="ko-KR" sz="1100" b="1" dirty="0"/>
              <a:t>int</a:t>
            </a:r>
            <a:r>
              <a:rPr lang="ko-KR" altLang="en-US" sz="1100" b="1" dirty="0"/>
              <a:t>의 경우 </a:t>
            </a:r>
            <a:r>
              <a:rPr lang="en-US" altLang="ko-KR" sz="1100" b="1" dirty="0"/>
              <a:t>4</a:t>
            </a:r>
            <a:r>
              <a:rPr lang="ko-KR" altLang="en-US" sz="1100" b="1" dirty="0"/>
              <a:t>바이트</a:t>
            </a:r>
            <a:r>
              <a:rPr lang="en-US" altLang="ko-KR" sz="1100" b="1" dirty="0"/>
              <a:t>(32</a:t>
            </a:r>
            <a:r>
              <a:rPr lang="ko-KR" altLang="en-US" sz="1100" b="1" dirty="0"/>
              <a:t>비트</a:t>
            </a:r>
            <a:r>
              <a:rPr lang="en-US" altLang="ko-KR" sz="1100" b="1" dirty="0"/>
              <a:t>)</a:t>
            </a:r>
            <a:r>
              <a:rPr lang="ko-KR" altLang="en-US" sz="1100" b="1" dirty="0"/>
              <a:t>로</a:t>
            </a:r>
            <a:r>
              <a:rPr lang="en-US" altLang="ko-KR" sz="1100" b="1" dirty="0"/>
              <a:t>, 2³² = </a:t>
            </a:r>
            <a:r>
              <a:rPr lang="ko-KR" altLang="en-US" sz="1100" b="1" dirty="0"/>
              <a:t>약 </a:t>
            </a:r>
            <a:r>
              <a:rPr lang="en-US" altLang="ko-KR" sz="1100" b="1" dirty="0"/>
              <a:t>43</a:t>
            </a:r>
            <a:r>
              <a:rPr lang="ko-KR" altLang="en-US" sz="1100" b="1" dirty="0" err="1"/>
              <a:t>억개의</a:t>
            </a:r>
            <a:r>
              <a:rPr lang="ko-KR" altLang="en-US" sz="1100" b="1" dirty="0"/>
              <a:t> 숫자를 표현합니다</a:t>
            </a:r>
            <a:r>
              <a:rPr lang="en-US" altLang="ko-KR" sz="1100" b="1" dirty="0"/>
              <a:t>. -&gt; -2,147,483,648 ~ 2,147,483,647</a:t>
            </a:r>
          </a:p>
          <a:p>
            <a:pPr marL="0" indent="0">
              <a:buNone/>
            </a:pPr>
            <a:r>
              <a:rPr lang="ko-KR" altLang="en-US" sz="1100" dirty="0"/>
              <a:t>위의 두 자료형의 경우 </a:t>
            </a:r>
            <a:r>
              <a:rPr lang="ko-KR" altLang="en-US" sz="1100" dirty="0">
                <a:highlight>
                  <a:srgbClr val="FFFF00"/>
                </a:highlight>
              </a:rPr>
              <a:t>정수</a:t>
            </a:r>
            <a:r>
              <a:rPr lang="ko-KR" altLang="en-US" sz="1100" dirty="0"/>
              <a:t>를 표현합니다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r>
              <a:rPr lang="ko-KR" altLang="en-US" sz="1100" dirty="0"/>
              <a:t>이번엔 </a:t>
            </a:r>
            <a:r>
              <a:rPr lang="ko-KR" altLang="en-US" sz="1100" dirty="0">
                <a:highlight>
                  <a:srgbClr val="FFFF00"/>
                </a:highlight>
              </a:rPr>
              <a:t>실수</a:t>
            </a:r>
            <a:r>
              <a:rPr lang="ko-KR" altLang="en-US" sz="1100" dirty="0"/>
              <a:t>를 </a:t>
            </a:r>
            <a:r>
              <a:rPr lang="ko-KR" altLang="en-US" sz="1100" dirty="0" err="1"/>
              <a:t>살펴볼건데</a:t>
            </a:r>
            <a:r>
              <a:rPr lang="ko-KR" altLang="en-US" sz="1100" dirty="0"/>
              <a:t> 실수의 경우 소수점을 표현하기 위해 이진수를 해석하는 방법이 달라집니다</a:t>
            </a:r>
            <a:r>
              <a:rPr lang="en-US" altLang="ko-KR" sz="1100" dirty="0"/>
              <a:t>.</a:t>
            </a:r>
          </a:p>
          <a:p>
            <a:pPr marL="0" indent="0">
              <a:buNone/>
            </a:pPr>
            <a:r>
              <a:rPr lang="en-US" altLang="ko-KR" sz="1100" b="1" dirty="0"/>
              <a:t>float</a:t>
            </a:r>
            <a:r>
              <a:rPr lang="ko-KR" altLang="en-US" sz="1100" b="1" dirty="0"/>
              <a:t>의 경우 단정도 부동소수점을 사용하여 표현합니다</a:t>
            </a:r>
            <a:r>
              <a:rPr lang="en-US" altLang="ko-KR" sz="1100" b="1" dirty="0"/>
              <a:t>. 4</a:t>
            </a:r>
            <a:r>
              <a:rPr lang="ko-KR" altLang="en-US" sz="1100" b="1" dirty="0"/>
              <a:t>바이트이기 때문에 표현 범위는 약 </a:t>
            </a:r>
            <a:r>
              <a:rPr lang="en-US" altLang="ko-KR" sz="1100" b="1" dirty="0"/>
              <a:t>±1.2 × 10⁻³⁸ ~ ±3.4 × 10³⁸</a:t>
            </a:r>
            <a:r>
              <a:rPr lang="ko-KR" altLang="en-US" sz="1100" b="1" dirty="0"/>
              <a:t>입니다</a:t>
            </a:r>
            <a:r>
              <a:rPr lang="en-US" altLang="ko-KR" sz="1100" b="1" dirty="0"/>
              <a:t>. </a:t>
            </a:r>
          </a:p>
          <a:p>
            <a:pPr marL="0" indent="0">
              <a:buNone/>
            </a:pPr>
            <a:r>
              <a:rPr lang="en-US" altLang="ko-KR" sz="1100" b="1" dirty="0"/>
              <a:t>Double</a:t>
            </a:r>
            <a:r>
              <a:rPr lang="ko-KR" altLang="en-US" sz="1100" b="1" dirty="0"/>
              <a:t>의 경우 배정도 부동소수점을 사용하며</a:t>
            </a:r>
            <a:r>
              <a:rPr lang="en-US" altLang="ko-KR" sz="1100" b="1" dirty="0"/>
              <a:t>, 8</a:t>
            </a:r>
            <a:r>
              <a:rPr lang="ko-KR" altLang="en-US" sz="1100" b="1" dirty="0"/>
              <a:t>바이트를 사용하기 때문에 더 넓은 약 </a:t>
            </a:r>
            <a:r>
              <a:rPr lang="en-US" altLang="ko-KR" sz="1100" b="1" dirty="0"/>
              <a:t>±2.2 × 10⁻³⁰⁸ ~ ±1.8 × 10³⁰⁸</a:t>
            </a:r>
            <a:r>
              <a:rPr lang="ko-KR" altLang="en-US" sz="1100" b="1" dirty="0"/>
              <a:t>를 표현합니다</a:t>
            </a:r>
            <a:r>
              <a:rPr lang="en-US" altLang="ko-KR" sz="1100" b="1" dirty="0"/>
              <a:t>.</a:t>
            </a:r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r>
              <a:rPr lang="ko-KR" altLang="en-US" sz="1100" dirty="0"/>
              <a:t>실수를 표현하는 자료형의 경우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무한소수</a:t>
            </a:r>
            <a:r>
              <a:rPr lang="ko-KR" altLang="en-US" sz="1100" dirty="0"/>
              <a:t> 혹은 이진수로 표현할 수 없는 값에 대해 </a:t>
            </a:r>
            <a:r>
              <a:rPr lang="ko-KR" altLang="en-US" sz="1100" dirty="0">
                <a:solidFill>
                  <a:srgbClr val="C00000"/>
                </a:solidFill>
              </a:rPr>
              <a:t>근사값</a:t>
            </a:r>
            <a:r>
              <a:rPr lang="ko-KR" altLang="en-US" sz="1100" dirty="0"/>
              <a:t>을 사용하기 때문에 </a:t>
            </a:r>
            <a:r>
              <a:rPr lang="ko-KR" altLang="en-US" sz="1100" dirty="0">
                <a:solidFill>
                  <a:srgbClr val="C00000"/>
                </a:solidFill>
              </a:rPr>
              <a:t>연산과정에 오차 누적</a:t>
            </a:r>
            <a:r>
              <a:rPr lang="ko-KR" altLang="en-US" sz="1100" dirty="0"/>
              <a:t>이 발생합니다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ko-KR" altLang="en-US" sz="1100" dirty="0"/>
              <a:t>부동소수점에 관해서는 설명해주는 자료가 많으니 꼭 한번쯤 찾아보고 공부해 보길 권장 드립니다</a:t>
            </a:r>
            <a:r>
              <a:rPr lang="en-US" altLang="ko-KR" sz="11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00076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480BF-95DD-7811-08CC-49B34BB99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F910C1-F192-8FB2-1816-43D386747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C/C++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203CFD-DFE1-D16B-1C8A-CE1A44D15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[</a:t>
            </a:r>
            <a:r>
              <a:rPr lang="ko-KR" altLang="en-US" sz="1800" b="1" dirty="0"/>
              <a:t>우리가 사용할 </a:t>
            </a:r>
            <a:r>
              <a:rPr lang="en-US" altLang="ko-KR" sz="1800" b="1" dirty="0"/>
              <a:t>C++]</a:t>
            </a:r>
          </a:p>
          <a:p>
            <a:pPr marL="0" indent="0">
              <a:buNone/>
            </a:pPr>
            <a:r>
              <a:rPr lang="ko-KR" altLang="en-US" sz="1100" dirty="0"/>
              <a:t>이렇게 최대한 간단하게 필요한 베이스를 학습해보았습니다</a:t>
            </a:r>
            <a:r>
              <a:rPr lang="en-US" altLang="ko-KR" sz="1100" dirty="0"/>
              <a:t>. </a:t>
            </a:r>
            <a:br>
              <a:rPr lang="en-US" altLang="ko-KR" sz="1100" dirty="0"/>
            </a:br>
            <a:r>
              <a:rPr lang="ko-KR" altLang="en-US" sz="1100" dirty="0"/>
              <a:t>물론 빠지거나 모자란 내용도 있지만</a:t>
            </a:r>
            <a:r>
              <a:rPr lang="en-US" altLang="ko-KR" sz="1100" dirty="0"/>
              <a:t>, </a:t>
            </a:r>
            <a:r>
              <a:rPr lang="ko-KR" altLang="en-US" sz="1100" dirty="0"/>
              <a:t>아마 자료구조나 컴퓨터 구조</a:t>
            </a:r>
            <a:r>
              <a:rPr lang="en-US" altLang="ko-KR" sz="1100" dirty="0"/>
              <a:t>, </a:t>
            </a:r>
            <a:r>
              <a:rPr lang="ko-KR" altLang="en-US" sz="1100" dirty="0"/>
              <a:t>운영체제 등 다른 과목에서 융합되어 접하게 됩니다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r>
              <a:rPr lang="ko-KR" altLang="en-US" sz="1100" dirty="0"/>
              <a:t>이제 바로 </a:t>
            </a:r>
            <a:r>
              <a:rPr lang="en-US" altLang="ko-KR" sz="1100" dirty="0"/>
              <a:t>C++</a:t>
            </a:r>
            <a:r>
              <a:rPr lang="ko-KR" altLang="en-US" sz="1100" dirty="0"/>
              <a:t>을 사용하며 프로젝트를 진행해보려 합니다</a:t>
            </a:r>
            <a:r>
              <a:rPr lang="en-US" altLang="ko-KR" sz="1100" dirty="0"/>
              <a:t>. </a:t>
            </a:r>
            <a:r>
              <a:rPr lang="ko-KR" altLang="en-US" sz="1100" dirty="0"/>
              <a:t>마지막으로 </a:t>
            </a:r>
            <a:r>
              <a:rPr lang="en-US" altLang="ko-KR" sz="1100" dirty="0"/>
              <a:t>C++</a:t>
            </a:r>
            <a:r>
              <a:rPr lang="ko-KR" altLang="en-US" sz="1100" dirty="0"/>
              <a:t>은 어떻게 학습하는 것이 좋을지 제 경험에 기반하여 정리해드리겠습니다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r>
              <a:rPr lang="ko-KR" altLang="en-US" sz="1100" dirty="0"/>
              <a:t>우선 </a:t>
            </a:r>
            <a:r>
              <a:rPr lang="en-US" altLang="ko-KR" sz="1100" dirty="0"/>
              <a:t>C++</a:t>
            </a:r>
            <a:r>
              <a:rPr lang="ko-KR" altLang="en-US" sz="1100" dirty="0"/>
              <a:t>의 경우 지속적으로 업데이트 되는 언어입니다</a:t>
            </a:r>
            <a:r>
              <a:rPr lang="en-US" altLang="ko-KR" sz="1100" dirty="0"/>
              <a:t>. C++11</a:t>
            </a:r>
            <a:r>
              <a:rPr lang="ko-KR" altLang="en-US" sz="1100" dirty="0"/>
              <a:t>부터 현재 </a:t>
            </a:r>
            <a:r>
              <a:rPr lang="en-US" altLang="ko-KR" sz="1100" dirty="0"/>
              <a:t>C++23, </a:t>
            </a:r>
            <a:r>
              <a:rPr lang="ko-KR" altLang="en-US" sz="1100" dirty="0"/>
              <a:t>곧 나올 </a:t>
            </a:r>
            <a:r>
              <a:rPr lang="en-US" altLang="ko-KR" sz="1100" dirty="0"/>
              <a:t>C++26</a:t>
            </a:r>
            <a:r>
              <a:rPr lang="ko-KR" altLang="en-US" sz="1100" dirty="0"/>
              <a:t>까지</a:t>
            </a:r>
            <a:r>
              <a:rPr lang="en-US" altLang="ko-KR" sz="1100" dirty="0"/>
              <a:t>. </a:t>
            </a:r>
            <a:r>
              <a:rPr lang="ko-KR" altLang="en-US" sz="1100" dirty="0"/>
              <a:t>각 버전들이 올라가며 과거의 문법들이 정리되고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dirty="0"/>
              <a:t>더 효율적인 문법으로 등장하기도 합니다</a:t>
            </a:r>
            <a:r>
              <a:rPr lang="en-US" altLang="ko-KR" sz="1100" dirty="0"/>
              <a:t>. </a:t>
            </a:r>
            <a:r>
              <a:rPr lang="ko-KR" altLang="en-US" sz="1100" dirty="0"/>
              <a:t>게다가 역사도 </a:t>
            </a:r>
            <a:r>
              <a:rPr lang="ko-KR" altLang="en-US" sz="1100" dirty="0" err="1"/>
              <a:t>긴만큼</a:t>
            </a:r>
            <a:r>
              <a:rPr lang="ko-KR" altLang="en-US" sz="1100" dirty="0"/>
              <a:t> </a:t>
            </a:r>
            <a:r>
              <a:rPr lang="en-US" altLang="ko-KR" sz="1100" dirty="0"/>
              <a:t>C++</a:t>
            </a:r>
            <a:r>
              <a:rPr lang="ko-KR" altLang="en-US" sz="1100" dirty="0"/>
              <a:t>에 관한 내용은 정말 방대합니다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r>
              <a:rPr lang="ko-KR" altLang="en-US" sz="1100" dirty="0"/>
              <a:t>그래서 다음의 링크를 자주 참고하시기 바랍니다</a:t>
            </a:r>
            <a:r>
              <a:rPr lang="en-US" altLang="ko-KR" sz="1100" dirty="0"/>
              <a:t>. </a:t>
            </a:r>
            <a:br>
              <a:rPr lang="en-US" altLang="ko-KR" sz="1100" dirty="0"/>
            </a:br>
            <a:r>
              <a:rPr lang="en-US" altLang="ko-KR" sz="1100" dirty="0">
                <a:hlinkClick r:id="rId2"/>
              </a:rPr>
              <a:t>https://en.cppreference.com/w/</a:t>
            </a:r>
            <a:br>
              <a:rPr lang="en-US" altLang="ko-KR" sz="1100" dirty="0"/>
            </a:br>
            <a:br>
              <a:rPr lang="en-US" altLang="ko-KR" sz="1100" dirty="0"/>
            </a:br>
            <a:r>
              <a:rPr lang="ko-KR" altLang="en-US" sz="1100" dirty="0"/>
              <a:t>처음엔 해당 레퍼런스에서 학습하기 </a:t>
            </a:r>
            <a:r>
              <a:rPr lang="ko-KR" altLang="en-US" sz="1100" dirty="0" err="1"/>
              <a:t>어려울겁니다</a:t>
            </a:r>
            <a:r>
              <a:rPr lang="en-US" altLang="ko-KR" sz="1100" dirty="0"/>
              <a:t>. </a:t>
            </a:r>
            <a:r>
              <a:rPr lang="ko-KR" altLang="en-US" sz="1100" dirty="0"/>
              <a:t>그러나 윤정현 교수님의 </a:t>
            </a:r>
            <a:r>
              <a:rPr lang="en-US" altLang="ko-KR" sz="1100" dirty="0"/>
              <a:t>C++</a:t>
            </a:r>
            <a:r>
              <a:rPr lang="ko-KR" altLang="en-US" sz="1100" dirty="0"/>
              <a:t>강의때에도 위의 </a:t>
            </a:r>
            <a:r>
              <a:rPr lang="ko-KR" altLang="en-US" sz="1100" dirty="0" err="1"/>
              <a:t>래퍼런스를</a:t>
            </a:r>
            <a:r>
              <a:rPr lang="ko-KR" altLang="en-US" sz="1100" dirty="0"/>
              <a:t> 기반으로 설명하시기에 미리 연습해두는 것이 좋습니다</a:t>
            </a:r>
            <a:r>
              <a:rPr lang="en-US" altLang="ko-KR" sz="1100" dirty="0"/>
              <a:t>.</a:t>
            </a:r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r>
              <a:rPr lang="ko-KR" altLang="en-US" sz="1100" dirty="0"/>
              <a:t>또한 내용이 방대한 만큼 제가 모든 부분을 </a:t>
            </a:r>
            <a:r>
              <a:rPr lang="ko-KR" altLang="en-US" sz="1100" dirty="0" err="1"/>
              <a:t>알려드리긴</a:t>
            </a:r>
            <a:r>
              <a:rPr lang="ko-KR" altLang="en-US" sz="1100" dirty="0"/>
              <a:t> 어렵습니다</a:t>
            </a:r>
            <a:r>
              <a:rPr lang="en-US" altLang="ko-KR" sz="1100" dirty="0"/>
              <a:t>. </a:t>
            </a:r>
            <a:r>
              <a:rPr lang="ko-KR" altLang="en-US" sz="1100" dirty="0"/>
              <a:t>다만 게임을 개발하는 과정에 있어서 필요한 </a:t>
            </a:r>
            <a:r>
              <a:rPr lang="en-US" altLang="ko-KR" sz="1100" dirty="0"/>
              <a:t>C++</a:t>
            </a:r>
            <a:r>
              <a:rPr lang="ko-KR" altLang="en-US" sz="1100" dirty="0"/>
              <a:t>은 적재적소에 사용할 수 있도록 알려드릴 예정입니다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r>
              <a:rPr lang="ko-KR" altLang="en-US" sz="1100" dirty="0"/>
              <a:t>그럼 우리가 이해한 </a:t>
            </a:r>
            <a:r>
              <a:rPr lang="en-US" altLang="ko-KR" sz="1100" dirty="0"/>
              <a:t>C++</a:t>
            </a:r>
            <a:r>
              <a:rPr lang="ko-KR" altLang="en-US" sz="1100" dirty="0"/>
              <a:t>을 가지고 게임의 세계로 넘어가보겠습니다</a:t>
            </a:r>
            <a:r>
              <a:rPr lang="en-US" altLang="ko-KR" sz="1100"/>
              <a:t>. 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673505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1713</TotalTime>
  <Words>2282</Words>
  <Application>Microsoft Office PowerPoint</Application>
  <PresentationFormat>와이드스크린</PresentationFormat>
  <Paragraphs>230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Wingdings</vt:lpstr>
      <vt:lpstr>Office 테마</vt:lpstr>
      <vt:lpstr>C/C++  &amp; Game Framework</vt:lpstr>
      <vt:lpstr>목차</vt:lpstr>
      <vt:lpstr>C/C++</vt:lpstr>
      <vt:lpstr>C/C++</vt:lpstr>
      <vt:lpstr>C/C++</vt:lpstr>
      <vt:lpstr>C/C++</vt:lpstr>
      <vt:lpstr>C/C++</vt:lpstr>
      <vt:lpstr>C/C++</vt:lpstr>
      <vt:lpstr>C/C++</vt:lpstr>
      <vt:lpstr>C/C++</vt:lpstr>
      <vt:lpstr>C/C++</vt:lpstr>
      <vt:lpstr>C/C++</vt:lpstr>
      <vt:lpstr>C/C++</vt:lpstr>
      <vt:lpstr>C/C++</vt:lpstr>
      <vt:lpstr>C/C++</vt:lpstr>
      <vt:lpstr>C/C++</vt:lpstr>
      <vt:lpstr>C/C++</vt:lpstr>
      <vt:lpstr>C/C++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이태형(2024182028)</dc:creator>
  <cp:lastModifiedBy>이태형(2024182028)</cp:lastModifiedBy>
  <cp:revision>10</cp:revision>
  <dcterms:created xsi:type="dcterms:W3CDTF">2026-03-24T13:24:40Z</dcterms:created>
  <dcterms:modified xsi:type="dcterms:W3CDTF">2026-03-26T13:37:06Z</dcterms:modified>
</cp:coreProperties>
</file>